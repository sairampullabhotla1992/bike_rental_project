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0" d="100"/>
          <a:sy n="80" d="100"/>
        </p:scale>
        <p:origin x="754"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142769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r>
              <a:rPr dirty="0"/>
              <a:t>HOW TO INTRODUCE YOURSELF:</a:t>
            </a:r>
          </a:p>
          <a:p>
            <a:r>
              <a:rPr dirty="0"/>
              <a:t>"Good morning/afternoon. My name is </a:t>
            </a:r>
            <a:r>
              <a:rPr dirty="0" err="1"/>
              <a:t>Cheruku</a:t>
            </a:r>
            <a:r>
              <a:rPr dirty="0"/>
              <a:t> Arun Kumar, and I'm presenting my M.Sc. Data Science dissertation on Bike Sharing Demand Forecasting using Time Series and Machine Learning approaches."</a:t>
            </a:r>
          </a:p>
          <a:p>
            <a:endParaRPr dirty="0"/>
          </a:p>
          <a:p>
            <a:r>
              <a:rPr dirty="0"/>
              <a:t>KEY POINTS TO MENTION:</a:t>
            </a:r>
          </a:p>
          <a:p>
            <a:r>
              <a:rPr dirty="0"/>
              <a:t>• This project addresses a real-world urban mobility problem</a:t>
            </a:r>
          </a:p>
          <a:p>
            <a:r>
              <a:rPr dirty="0"/>
              <a:t>• I compared traditional statistical methods (SARIMA, SARIMAX) with modern ML (</a:t>
            </a:r>
            <a:r>
              <a:rPr dirty="0" err="1"/>
              <a:t>XGBoost</a:t>
            </a:r>
            <a:r>
              <a:rPr dirty="0"/>
              <a:t>)</a:t>
            </a:r>
          </a:p>
          <a:p>
            <a:r>
              <a:rPr dirty="0"/>
              <a:t>• The goal is to help bike-sharing operators predict hourly demand for better fleet management</a:t>
            </a:r>
          </a:p>
          <a:p>
            <a:endParaRPr dirty="0"/>
          </a:p>
          <a:p>
            <a:r>
              <a:rPr dirty="0"/>
              <a:t>TRANSITION TO NEXT SLIDE:</a:t>
            </a:r>
          </a:p>
          <a:p>
            <a:r>
              <a:rPr dirty="0"/>
              <a:t>"Let me begin by explaining why this problem matters and what I set out to achieve..."</a:t>
            </a:r>
          </a:p>
          <a:p>
            <a:endParaRPr dirty="0"/>
          </a:p>
          <a:p>
            <a:r>
              <a:rPr dirty="0"/>
              <a:t>CONFIDENCE TIP:</a:t>
            </a:r>
          </a:p>
          <a:p>
            <a:r>
              <a:rPr dirty="0"/>
              <a:t>- Make eye contact with the audience</a:t>
            </a:r>
          </a:p>
          <a:p>
            <a:r>
              <a:rPr dirty="0"/>
              <a:t>- Speak slowly and clearly</a:t>
            </a:r>
          </a:p>
          <a:p>
            <a:r>
              <a:rPr dirty="0"/>
              <a:t>- Show enthusiasm for your work</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HOW TO EXPLAIN THIS SLIDE:</a:t>
            </a:r>
          </a:p>
          <a:p>
            <a:endParaRPr/>
          </a:p>
          <a:p>
            <a:r>
              <a:t>START WITH THE PROBLEM:</a:t>
            </a:r>
          </a:p>
          <a:p>
            <a:r>
              <a:t>"Bike sharing has exploded globally — over 500 cities now have systems. But operators face a constant headache: bikes pile up at some stations while others run empty, especially during rush hour. This costs money and frustrates users."</a:t>
            </a:r>
          </a:p>
          <a:p>
            <a:endParaRPr/>
          </a:p>
          <a:p>
            <a:r>
              <a:t>EXPLAIN THE GRAPH (pointing to it):</a:t>
            </a:r>
          </a:p>
          <a:p>
            <a:r>
              <a:t>"This graph shows two years of bike rental data from Washington D.C. You can see the clear upward trend — the system grew 67% from 2011 to 2012. You can also see strong seasonal patterns — demand peaks in summer and drops in winter."</a:t>
            </a:r>
          </a:p>
          <a:p>
            <a:endParaRPr/>
          </a:p>
          <a:p>
            <a:r>
              <a:t>STATE YOUR OBJECTIVES CLEARLY:</a:t>
            </a:r>
          </a:p>
          <a:p>
            <a:r>
              <a:t>"My goal was to build models that can predict demand hour-by-hour. I compared three approaches:</a:t>
            </a:r>
          </a:p>
          <a:p>
            <a:r>
              <a:t>1. SARIMA — uses only past demand</a:t>
            </a:r>
          </a:p>
          <a:p>
            <a:r>
              <a:t>2. SARIMAX — adds weather and calendar features</a:t>
            </a:r>
          </a:p>
          <a:p>
            <a:r>
              <a:t>3. XGBoost — a machine learning approach</a:t>
            </a:r>
          </a:p>
          <a:p>
            <a:endParaRPr/>
          </a:p>
          <a:p>
            <a:r>
              <a:t>I also wanted to identify which factors most influence demand, and whether tuning the models improves accuracy."</a:t>
            </a:r>
          </a:p>
          <a:p>
            <a:endParaRPr/>
          </a:p>
          <a:p>
            <a:r>
              <a:t>ANTICIPATED QUESTIONS:</a:t>
            </a:r>
          </a:p>
          <a:p>
            <a:r>
              <a:t>Q: "Why hourly granularity?"</a:t>
            </a:r>
          </a:p>
          <a:p>
            <a:r>
              <a:t>A: "Operators need to rebalance bikes multiple times per day. Daily forecasts aren't actionable enough."</a:t>
            </a:r>
          </a:p>
          <a:p>
            <a:endParaRPr/>
          </a:p>
          <a:p>
            <a:r>
              <a:t>Q: "Why these three models specifically?"</a:t>
            </a:r>
          </a:p>
          <a:p>
            <a:r>
              <a:t>A: "SARIMA is the gold standard for time series. SARIMAX extends it with external features. XGBoost represents modern ML that handles non-linearity."</a:t>
            </a:r>
          </a:p>
          <a:p>
            <a:endParaRPr/>
          </a:p>
          <a:p>
            <a:r>
              <a:t>TRANSITION:</a:t>
            </a:r>
          </a:p>
          <a:p>
            <a:r>
              <a:t>"Before diving into my methodology, let me show you what existing research says about this problem..."</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HOW TO EXPLAIN THIS SLIDE:</a:t>
            </a:r>
          </a:p>
          <a:p>
            <a:endParaRPr/>
          </a:p>
          <a:p>
            <a:r>
              <a:t>INTRODUCE THE LITERATURE:</a:t>
            </a:r>
          </a:p>
          <a:p>
            <a:r>
              <a:t>"I reviewed existing research to understand what's been done and where the gaps are."</a:t>
            </a:r>
          </a:p>
          <a:p>
            <a:endParaRPr/>
          </a:p>
          <a:p>
            <a:r>
              <a:t>EXPLAIN EACH KEY PAPER:</a:t>
            </a:r>
          </a:p>
          <a:p>
            <a:endParaRPr/>
          </a:p>
          <a:p>
            <a:r>
              <a:t>1. FANAEE-T &amp; GAMA (2014):</a:t>
            </a:r>
          </a:p>
          <a:p>
            <a:r>
              <a:t>"This is the paper that created the dataset I used. They showed that bike demand is heavily influenced by weather — temperature, humidity — and calendar factors like holidays. This told me I needed to include these as features."</a:t>
            </a:r>
          </a:p>
          <a:p>
            <a:endParaRPr/>
          </a:p>
          <a:p>
            <a:r>
              <a:t>2. CHEN ET AL. (2021):</a:t>
            </a:r>
          </a:p>
          <a:p>
            <a:r>
              <a:t>"They applied SARIMA to bike sharing and achieved 18% MAPE on daily data. But daily predictions aren't granular enough for operations. I wanted to do hourly."</a:t>
            </a:r>
          </a:p>
          <a:p>
            <a:endParaRPr/>
          </a:p>
          <a:p>
            <a:r>
              <a:t>3. HYNDMAN &amp; ATHANASOPOULOS:</a:t>
            </a:r>
          </a:p>
          <a:p>
            <a:r>
              <a:t>"This is THE textbook for forecasting. I followed their methodology for choosing ARIMA orders — using ACF and PACF plots to determine p, d, q values."</a:t>
            </a:r>
          </a:p>
          <a:p>
            <a:endParaRPr/>
          </a:p>
          <a:p>
            <a:r>
              <a:t>4. SATHISHKUMAR ET AL. (2020):</a:t>
            </a:r>
          </a:p>
          <a:p>
            <a:r>
              <a:t>"They compared ML models and found XGBoost performed best. This motivated me to include XGBoost in my comparison."</a:t>
            </a:r>
          </a:p>
          <a:p>
            <a:endParaRPr/>
          </a:p>
          <a:p>
            <a:r>
              <a:t>5. LI ET AL. (2023):</a:t>
            </a:r>
          </a:p>
          <a:p>
            <a:r>
              <a:t>"Recent work using deep learning achieved 12% MAPE with LSTM. This shows the state-of-the-art, but deep learning needs more data and compute."</a:t>
            </a:r>
          </a:p>
          <a:p>
            <a:endParaRPr/>
          </a:p>
          <a:p>
            <a:r>
              <a:t>ANTICIPATED QUESTIONS:</a:t>
            </a:r>
          </a:p>
          <a:p>
            <a:r>
              <a:t>Q: "Why didn't you use LSTM?"</a:t>
            </a:r>
          </a:p>
          <a:p>
            <a:r>
              <a:t>A: "LSTM requires much more data and computational resources. For 2 years of hourly data, classical methods are appropriate and interpretable."</a:t>
            </a:r>
          </a:p>
          <a:p>
            <a:endParaRPr/>
          </a:p>
          <a:p>
            <a:r>
              <a:t>Q: "How did these papers influence your approach?"</a:t>
            </a:r>
          </a:p>
          <a:p>
            <a:r>
              <a:t>A: "They guided my feature selection (weather, calendar), model choice (SARIMA, XGBoost), and methodology (ACF/PACF analysis)."</a:t>
            </a:r>
          </a:p>
          <a:p>
            <a:endParaRPr/>
          </a:p>
          <a:p>
            <a:r>
              <a:t>TRANSITION:</a:t>
            </a:r>
          </a:p>
          <a:p>
            <a:r>
              <a:t>"Based on this review, I identified some gaps in the literature..."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HOW TO EXPLAIN THIS SLIDE:</a:t>
            </a:r>
          </a:p>
          <a:p>
            <a:endParaRPr/>
          </a:p>
          <a:p>
            <a:r>
              <a:t>SUMMARIZE KEY FINDINGS:</a:t>
            </a:r>
          </a:p>
          <a:p>
            <a:r>
              <a:t>"From the literature, I learned several important things:</a:t>
            </a:r>
          </a:p>
          <a:p>
            <a:endParaRPr/>
          </a:p>
          <a:p>
            <a:r>
              <a:t>First, HYBRID APPROACHES work best — combining time series structure with ML flexibility outperforms either alone.</a:t>
            </a:r>
          </a:p>
          <a:p>
            <a:endParaRPr/>
          </a:p>
          <a:p>
            <a:r>
              <a:t>Second, LAG FEATURES are crucial — what happened 1 hour ago, 24 hours ago, or 1 week ago strongly predicts current demand.</a:t>
            </a:r>
          </a:p>
          <a:p>
            <a:endParaRPr/>
          </a:p>
          <a:p>
            <a:r>
              <a:t>Third, WEATHER MATTERS — temperature has a 0.4 correlation with demand, humidity is negative at -0.3.</a:t>
            </a:r>
          </a:p>
          <a:p>
            <a:endParaRPr/>
          </a:p>
          <a:p>
            <a:r>
              <a:t>Fourth, there's a BIMODAL PATTERN — demand peaks at 8AM and 5-6PM due to commuting."</a:t>
            </a:r>
          </a:p>
          <a:p>
            <a:endParaRPr/>
          </a:p>
          <a:p>
            <a:r>
              <a:t>EXPLAIN THE GAPS:</a:t>
            </a:r>
          </a:p>
          <a:p>
            <a:r>
              <a:t>"But I found gaps in the research:</a:t>
            </a:r>
          </a:p>
          <a:p>
            <a:r>
              <a:t>1. Few studies compare statistical and ML methods on the SAME hourly dataset</a:t>
            </a:r>
          </a:p>
          <a:p>
            <a:r>
              <a:t>2. Feature engineering like cyclical encodings is often ignored</a:t>
            </a:r>
          </a:p>
          <a:p>
            <a:r>
              <a:t>3. Most papers don't tune hyperparameters properly"</a:t>
            </a:r>
          </a:p>
          <a:p>
            <a:endParaRPr/>
          </a:p>
          <a:p>
            <a:r>
              <a:t>STATE YOUR CONTRIBUTION:</a:t>
            </a:r>
          </a:p>
          <a:p>
            <a:r>
              <a:t>"My contribution fills these gaps:</a:t>
            </a:r>
          </a:p>
          <a:p>
            <a:r>
              <a:t>1. Systematic comparison of SARIMA, SARIMAX, and XGBoost</a:t>
            </a:r>
          </a:p>
          <a:p>
            <a:r>
              <a:t>2. Novel feature engineering — cyclical hour encoding, temperature squared, weather interactions</a:t>
            </a:r>
          </a:p>
          <a:p>
            <a:r>
              <a:t>3. Proper hyperparameter tuning for all models"</a:t>
            </a:r>
          </a:p>
          <a:p>
            <a:endParaRPr/>
          </a:p>
          <a:p>
            <a:r>
              <a:t>ANTICIPATED QUESTIONS:</a:t>
            </a:r>
          </a:p>
          <a:p>
            <a:r>
              <a:t>Q: "What is cyclical encoding and why is it novel?"</a:t>
            </a:r>
          </a:p>
          <a:p>
            <a:r>
              <a:t>A: "Hours are circular — 11PM and midnight are 1 hour apart but numerically 23 apart. Sine/cosine encoding preserves this circularity. I'll explain this in detail later."</a:t>
            </a:r>
          </a:p>
          <a:p>
            <a:endParaRPr/>
          </a:p>
          <a:p>
            <a:r>
              <a:t>Q: "Why is hyperparameter tuning important?"</a:t>
            </a:r>
          </a:p>
          <a:p>
            <a:r>
              <a:t>A: "Default parameters rarely give optimal performance. Tuning can improve accuracy by 30-40% as I'll show."</a:t>
            </a:r>
          </a:p>
          <a:p>
            <a:endParaRPr/>
          </a:p>
          <a:p>
            <a:r>
              <a:t>TRANSITION:</a:t>
            </a:r>
          </a:p>
          <a:p>
            <a:r>
              <a:t>"Let me now explain my proposed approach in detail..."</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HOW TO EXPLAIN THIS SLIDE:</a:t>
            </a:r>
          </a:p>
          <a:p>
            <a:endParaRPr/>
          </a:p>
          <a:p>
            <a:r>
              <a:t>EXPLAIN YOUR METHODOLOGY:</a:t>
            </a:r>
          </a:p>
          <a:p>
            <a:r>
              <a:t>"My approach has three parts:</a:t>
            </a:r>
          </a:p>
          <a:p>
            <a:endParaRPr/>
          </a:p>
          <a:p>
            <a:r>
              <a:t>FIRST, I compare three models:</a:t>
            </a:r>
          </a:p>
          <a:p>
            <a:r>
              <a:t>- SARIMA: Uses only past demand values. It's the baseline.</a:t>
            </a:r>
          </a:p>
          <a:p>
            <a:r>
              <a:t>- SARIMAX: Adds external features like temperature and humidity.</a:t>
            </a:r>
          </a:p>
          <a:p>
            <a:r>
              <a:t>- XGBoost: A machine learning model that captures non-linear relationships.</a:t>
            </a:r>
          </a:p>
          <a:p>
            <a:endParaRPr/>
          </a:p>
          <a:p>
            <a:r>
              <a:t>SECOND, I tune each model properly:</a:t>
            </a:r>
          </a:p>
          <a:p>
            <a:r>
              <a:t>- For SARIMA/SARIMAX, I used ACF/PACF plots to select orders, then tested 3 promising configurations.</a:t>
            </a:r>
          </a:p>
          <a:p>
            <a:r>
              <a:t>- For XGBoost, I used RandomizedSearchCV with 15 iterations.</a:t>
            </a:r>
          </a:p>
          <a:p>
            <a:endParaRPr/>
          </a:p>
          <a:p>
            <a:r>
              <a:t>THIRD, I evaluate fairly:</a:t>
            </a:r>
          </a:p>
          <a:p>
            <a:r>
              <a:t>- Same 90-10 time-based split for all models</a:t>
            </a:r>
          </a:p>
          <a:p>
            <a:r>
              <a:t>- Same metrics: MAE, RMSE, MAPE"</a:t>
            </a:r>
          </a:p>
          <a:p>
            <a:endParaRPr/>
          </a:p>
          <a:p>
            <a:r>
              <a:t>EXPLAIN FEATURE ENGINEERING (THIS IS IMPORTANT):</a:t>
            </a:r>
          </a:p>
          <a:p>
            <a:r>
              <a:t>"I created several engineered features:</a:t>
            </a:r>
          </a:p>
          <a:p>
            <a:endParaRPr/>
          </a:p>
          <a:p>
            <a:r>
              <a:t>CYCLICAL ENCODING: Hours are circular — 11PM is 1 hour from midnight, not 23. I used sin and cos to map hours onto a circle. [Draw a circle if whiteboard available]</a:t>
            </a:r>
          </a:p>
          <a:p>
            <a:endParaRPr/>
          </a:p>
          <a:p>
            <a:r>
              <a:t>TEMPERATURE SQUARED: The demand-temperature relationship is an inverted U — too cold or too hot both reduce demand. Adding temp² captures this curve.</a:t>
            </a:r>
          </a:p>
          <a:p>
            <a:endParaRPr/>
          </a:p>
          <a:p>
            <a:r>
              <a:t>TEMP × HUMIDITY: 30°C at 40% humidity feels fine. 30°C at 90% humidity feels oppressive. The interaction term captures perceived discomfort.</a:t>
            </a:r>
          </a:p>
          <a:p>
            <a:endParaRPr/>
          </a:p>
          <a:p>
            <a:r>
              <a:t>LAG FEATURES: For XGBoost, I created features for demand 1 hour ago, 24 hours ago, etc. This gives the ML model 'memory' of past patterns."</a:t>
            </a:r>
          </a:p>
          <a:p>
            <a:endParaRPr/>
          </a:p>
          <a:p>
            <a:r>
              <a:t>ANTICIPATED QUESTIONS:</a:t>
            </a:r>
          </a:p>
          <a:p>
            <a:r>
              <a:t>Q: "Why not use auto_arima?"</a:t>
            </a:r>
          </a:p>
          <a:p>
            <a:r>
              <a:t>A: "With seasonal period 24, auto_arima takes 15-30 minutes. Manual grid search with 3 ACF/PACF-informed orders takes 2 minutes and is academically valid."</a:t>
            </a:r>
          </a:p>
          <a:p>
            <a:endParaRPr/>
          </a:p>
          <a:p>
            <a:r>
              <a:t>Q: "Why do you need both sin AND cos?"</a:t>
            </a:r>
          </a:p>
          <a:p>
            <a:r>
              <a:t>A: "Sin alone can't distinguish hour 6 from hour 18 — they have the same sin value. Cos differentiates them."</a:t>
            </a:r>
          </a:p>
          <a:p>
            <a:endParaRPr/>
          </a:p>
          <a:p>
            <a:r>
              <a:t>TRANSITION:</a:t>
            </a:r>
          </a:p>
          <a:p>
            <a:r>
              <a:t>"Before showing results, let me describe the dataset..."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HOW TO EXPLAIN THIS SLIDE:</a:t>
            </a:r>
          </a:p>
          <a:p>
            <a:endParaRPr/>
          </a:p>
          <a:p>
            <a:r>
              <a:t>DESCRIBE THE DATA SOURCE:</a:t>
            </a:r>
          </a:p>
          <a:p>
            <a:r>
              <a:t>"I used the UCI Bike Sharing Dataset from Capital Bikeshare in Washington D.C. This is the same dataset from the Fanaee-T paper I mentioned earlier."</a:t>
            </a:r>
          </a:p>
          <a:p>
            <a:endParaRPr/>
          </a:p>
          <a:p>
            <a:r>
              <a:t>EXPLAIN THE SCOPE:</a:t>
            </a:r>
          </a:p>
          <a:p>
            <a:r>
              <a:t>"It covers 2 full years — 2011 and 2012 — with hourly records. That's 17,379 data points. Each row represents one hour at one station, aggregated across the whole city."</a:t>
            </a:r>
          </a:p>
          <a:p>
            <a:endParaRPr/>
          </a:p>
          <a:p>
            <a:r>
              <a:t>WALK THROUGH THE FEATURES:</a:t>
            </a:r>
          </a:p>
          <a:p>
            <a:r>
              <a:t>"The dataset has 16 columns in three categories:</a:t>
            </a:r>
          </a:p>
          <a:p>
            <a:endParaRPr/>
          </a:p>
          <a:p>
            <a:r>
              <a:t>TEMPORAL: Date, hour (0-23), weekday, month, year</a:t>
            </a:r>
          </a:p>
          <a:p>
            <a:endParaRPr/>
          </a:p>
          <a:p>
            <a:r>
              <a:t>CALENDAR: Season (1-4), whether it's a holiday, whether it's a working day</a:t>
            </a:r>
          </a:p>
          <a:p>
            <a:endParaRPr/>
          </a:p>
          <a:p>
            <a:r>
              <a:t>WEATHER: Weather situation on a 1-4 scale from clear to heavy rain, temperature, feels-like temperature, humidity, windspeed</a:t>
            </a:r>
          </a:p>
          <a:p>
            <a:endParaRPr/>
          </a:p>
          <a:p>
            <a:r>
              <a:t>TARGET: 'cnt' is the total hourly bike rentals. It's actually the sum of 'casual' (walk-up users) and 'registered' (members)."</a:t>
            </a:r>
          </a:p>
          <a:p>
            <a:endParaRPr/>
          </a:p>
          <a:p>
            <a:r>
              <a:t>MENTION DATA QUALITY:</a:t>
            </a:r>
          </a:p>
          <a:p>
            <a:r>
              <a:t>"The data is complete — no missing hours. This is important for time series modeling where gaps cause problems."</a:t>
            </a:r>
          </a:p>
          <a:p>
            <a:endParaRPr/>
          </a:p>
          <a:p>
            <a:r>
              <a:t>ANTICIPATED QUESTIONS:</a:t>
            </a:r>
          </a:p>
          <a:p>
            <a:r>
              <a:t>Q: "Why not use more recent data?"</a:t>
            </a:r>
          </a:p>
          <a:p>
            <a:r>
              <a:t>A: "This is a well-studied benchmark dataset. Using it allows comparison with published results. Also, post-COVID data would have very different patterns."</a:t>
            </a:r>
          </a:p>
          <a:p>
            <a:endParaRPr/>
          </a:p>
          <a:p>
            <a:r>
              <a:t>Q: "Why use cnt instead of casual or registered separately?"</a:t>
            </a:r>
          </a:p>
          <a:p>
            <a:r>
              <a:t>A: "Total demand is what operators need to forecast. Separating them would be useful for different analyses, but total cnt is the operational target."</a:t>
            </a:r>
          </a:p>
          <a:p>
            <a:endParaRPr/>
          </a:p>
          <a:p>
            <a:r>
              <a:t>Q: "Is the data normalized?"</a:t>
            </a:r>
          </a:p>
          <a:p>
            <a:r>
              <a:t>A: "Temperature and windspeed are already normalized 0-1. This helps with model convergence."</a:t>
            </a:r>
          </a:p>
          <a:p>
            <a:endParaRPr/>
          </a:p>
          <a:p>
            <a:r>
              <a:t>TRANSITION:</a:t>
            </a:r>
          </a:p>
          <a:p>
            <a:r>
              <a:t>"Before modeling, I considered the ethical implications..."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HOW TO EXPLAIN THIS SLIDE:</a:t>
            </a:r>
          </a:p>
          <a:p>
            <a:endParaRPr/>
          </a:p>
          <a:p>
            <a:r>
              <a:t>WHY ETHICS MATTERS:</a:t>
            </a:r>
          </a:p>
          <a:p>
            <a:r>
              <a:t>"Even though this is a forecasting project, I considered the ethical implications carefully."</a:t>
            </a:r>
          </a:p>
          <a:p>
            <a:endParaRPr/>
          </a:p>
          <a:p>
            <a:r>
              <a:t>EXPLAIN PRIVACY:</a:t>
            </a:r>
          </a:p>
          <a:p>
            <a:r>
              <a:t>"The good news is this dataset has NO personal information. It's just hourly counts — I don't know who rented bikes or where they went. Capital Bikeshare aggregated the data before releasing it. So privacy is not a concern here."</a:t>
            </a:r>
          </a:p>
          <a:p>
            <a:endParaRPr/>
          </a:p>
          <a:p>
            <a:r>
              <a:t>EXPLAIN LICENSING:</a:t>
            </a:r>
          </a:p>
          <a:p>
            <a:r>
              <a:t>"The dataset is publicly available under the UCI ML Repository license. It's free for academic use with proper citation. I've cited Fanaee-T and Gama 2014 throughout my work. My code is on GitHub so others can reproduce my results."</a:t>
            </a:r>
          </a:p>
          <a:p>
            <a:endParaRPr/>
          </a:p>
          <a:p>
            <a:r>
              <a:t>EXPLAIN BIAS (IMPORTANT):</a:t>
            </a:r>
          </a:p>
          <a:p>
            <a:r>
              <a:t>"However, there are bias considerations:</a:t>
            </a:r>
          </a:p>
          <a:p>
            <a:endParaRPr/>
          </a:p>
          <a:p>
            <a:r>
              <a:t>GEOGRAPHIC BIAS: This is data from ONE city — Washington D.C. The patterns might be different in London, or Mumbai, or a city with different weather or cycling culture.</a:t>
            </a:r>
          </a:p>
          <a:p>
            <a:endParaRPr/>
          </a:p>
          <a:p>
            <a:r>
              <a:t>TEMPORAL BIAS: This is PRE-PANDEMIC data from 2011-2012. COVID-19 completely changed how people commute. A model trained on this data probably wouldn't work well on 2020+ data.</a:t>
            </a:r>
          </a:p>
          <a:p>
            <a:endParaRPr/>
          </a:p>
          <a:p>
            <a:r>
              <a:t>SOCIOECONOMIC BIAS: Bike stations aren't evenly distributed. Wealthier neighborhoods might have more stations, so the data may not represent all communities equally."</a:t>
            </a:r>
          </a:p>
          <a:p>
            <a:endParaRPr/>
          </a:p>
          <a:p>
            <a:r>
              <a:t>ANTICIPATED QUESTIONS:</a:t>
            </a:r>
          </a:p>
          <a:p>
            <a:r>
              <a:t>Q: "How would you address the geographic bias?"</a:t>
            </a:r>
          </a:p>
          <a:p>
            <a:r>
              <a:t>A: "To deploy this in another city, you'd need to retrain on local data. The methodology transfers, but the specific model parameters won't."</a:t>
            </a:r>
          </a:p>
          <a:p>
            <a:endParaRPr/>
          </a:p>
          <a:p>
            <a:r>
              <a:t>Q: "Could this model be misused?"</a:t>
            </a:r>
          </a:p>
          <a:p>
            <a:r>
              <a:t>A: "Potentially — if used for pricing, it could discriminate against certain users. But for fleet management, the use case is benign."</a:t>
            </a:r>
          </a:p>
          <a:p>
            <a:endParaRPr/>
          </a:p>
          <a:p>
            <a:r>
              <a:t>TRANSITION:</a:t>
            </a:r>
          </a:p>
          <a:p>
            <a:r>
              <a:t>"Now let me show you the exploratory data analysis..."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HOW TO EXPLAIN THIS SLIDE:</a:t>
            </a:r>
          </a:p>
          <a:p>
            <a:endParaRPr/>
          </a:p>
          <a:p>
            <a:r>
              <a:t>POINT TO THE GRAPH:</a:t>
            </a:r>
          </a:p>
          <a:p>
            <a:r>
              <a:t>"This bar chart shows average bike rentals by hour of day. Let me walk you through what we see..."</a:t>
            </a:r>
          </a:p>
          <a:p>
            <a:endParaRPr/>
          </a:p>
          <a:p>
            <a:r>
              <a:t>EXPLAIN THE BIMODAL PATTERN:</a:t>
            </a:r>
          </a:p>
          <a:p>
            <a:r>
              <a:t>"There are TWO peaks. The morning peak at 8AM with about 350 rentals — that's people commuting TO work. The evening peak at 5-6PM with about 460 rentals — that's people commuting HOME.</a:t>
            </a:r>
          </a:p>
          <a:p>
            <a:endParaRPr/>
          </a:p>
          <a:p>
            <a:r>
              <a:t>Notice the evening peak is HIGHER than the morning. Why? Because people leave work at similar times, but arrive over a wider window in the morning."</a:t>
            </a:r>
          </a:p>
          <a:p>
            <a:endParaRPr/>
          </a:p>
          <a:p>
            <a:r>
              <a:t>EXPLAIN THE LOW POINTS:</a:t>
            </a:r>
          </a:p>
          <a:p>
            <a:r>
              <a:t>"Demand is almost zero from 2-5AM. Makes sense — not many people cycling at 3AM.</a:t>
            </a:r>
          </a:p>
          <a:p>
            <a:endParaRPr/>
          </a:p>
          <a:p>
            <a:r>
              <a:t>There's a small dip at noon — lunch hour doesn't generate as many trips as commuting."</a:t>
            </a:r>
          </a:p>
          <a:p>
            <a:endParaRPr/>
          </a:p>
          <a:p>
            <a:r>
              <a:t>MENTION WHAT THIS MEANS FOR MODELING:</a:t>
            </a:r>
          </a:p>
          <a:p>
            <a:r>
              <a:t>"This bimodal pattern is WHY I created the 'rush_hour' feature. The cyclic encoding captures smooth hour-of-day effects, but this sharp jump at rush hour needs a separate indicator."</a:t>
            </a:r>
          </a:p>
          <a:p>
            <a:endParaRPr/>
          </a:p>
          <a:p>
            <a:r>
              <a:t>MENTION THE VARIANCE:</a:t>
            </a:r>
          </a:p>
          <a:p>
            <a:r>
              <a:t>"Note the error bars — they're huge. The standard deviation is almost as large as the mean. This tells us demand is highly variable, making forecasting challenging."</a:t>
            </a:r>
          </a:p>
          <a:p>
            <a:endParaRPr/>
          </a:p>
          <a:p>
            <a:r>
              <a:t>ANTICIPATED QUESTIONS:</a:t>
            </a:r>
          </a:p>
          <a:p>
            <a:r>
              <a:t>Q: "Why is evening demand higher than morning?"</a:t>
            </a:r>
          </a:p>
          <a:p>
            <a:r>
              <a:t>A: "People arrive at work over a 2-hour window (7-9AM) but leave more synchronized (5-6PM). Also, some people cycle to work but take transit home, and vice versa."</a:t>
            </a:r>
          </a:p>
          <a:p>
            <a:endParaRPr/>
          </a:p>
          <a:p>
            <a:r>
              <a:t>Q: "What about weekends?"</a:t>
            </a:r>
          </a:p>
          <a:p>
            <a:r>
              <a:t>A: "Weekends have a single mid-day peak — recreational riding rather than commuting. That's why I created the 'is_weekend' feature."</a:t>
            </a:r>
          </a:p>
          <a:p>
            <a:endParaRPr/>
          </a:p>
          <a:p>
            <a:r>
              <a:t>TRANSITION:</a:t>
            </a:r>
          </a:p>
          <a:p>
            <a:r>
              <a:t>"Let me also show you the correlation analysis..."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HOW TO EXPLAIN THIS SLIDE:</a:t>
            </a:r>
          </a:p>
          <a:p>
            <a:endParaRPr/>
          </a:p>
          <a:p>
            <a:r>
              <a:t>EXPLAIN THE HEATMAP:</a:t>
            </a:r>
          </a:p>
          <a:p>
            <a:r>
              <a:t>"This correlation heatmap shows how features relate to each other and to the target."</a:t>
            </a:r>
          </a:p>
          <a:p>
            <a:endParaRPr/>
          </a:p>
          <a:p>
            <a:r>
              <a:t>WALK THROUGH KEY CORRELATIONS:</a:t>
            </a:r>
          </a:p>
          <a:p>
            <a:r>
              <a:t>"Looking at the 'cnt' row:</a:t>
            </a:r>
          </a:p>
          <a:p>
            <a:r>
              <a:t>- Temperature has r=0.40 — moderate positive. Warmer weather means more cycling.</a:t>
            </a:r>
          </a:p>
          <a:p>
            <a:r>
              <a:t>- Humidity has r=-0.32 — negative. Rainy, humid days mean fewer rentals.</a:t>
            </a:r>
          </a:p>
          <a:p>
            <a:r>
              <a:t>- Windspeed is only 0.09 — weak effect. Wind doesn't deter cyclists much.</a:t>
            </a:r>
          </a:p>
          <a:p>
            <a:r>
              <a:t>- Hour appears low because the relationship is NON-LINEAR — the bimodal pattern doesn't show up in linear correlation."</a:t>
            </a:r>
          </a:p>
          <a:p>
            <a:endParaRPr/>
          </a:p>
          <a:p>
            <a:r>
              <a:t>EXPLAIN MULTICOLLINEARITY (IMPORTANT):</a:t>
            </a:r>
          </a:p>
          <a:p>
            <a:r>
              <a:t>"There's a critical finding here. temp and atemp have 0.99 correlation — they're essentially the same variable. If I include both, I get multicollinearity which inflates standard errors. So I kept only temp."</a:t>
            </a:r>
          </a:p>
          <a:p>
            <a:endParaRPr/>
          </a:p>
          <a:p>
            <a:r>
              <a:t>EXPLAIN DATA LEAKAGE:</a:t>
            </a:r>
          </a:p>
          <a:p>
            <a:r>
              <a:t>"Also crucial: casual + registered = cnt exactly. If I used them as predictors, the model would have the answer as input. That's data leakage — the model would appear perfect but wouldn't work on new data."</a:t>
            </a:r>
          </a:p>
          <a:p>
            <a:endParaRPr/>
          </a:p>
          <a:p>
            <a:r>
              <a:t>EXPLAIN ACF/PACF:</a:t>
            </a:r>
          </a:p>
          <a:p>
            <a:r>
              <a:t>"I also did ACF/PACF analysis on the differenced series:</a:t>
            </a:r>
          </a:p>
          <a:p>
            <a:r>
              <a:t>- ACF shows spikes at lag 1, 24, 48 — confirming daily periodicity</a:t>
            </a:r>
          </a:p>
          <a:p>
            <a:r>
              <a:t>- PACF cuts off after lag 2 — suggesting AR(2)</a:t>
            </a:r>
          </a:p>
          <a:p>
            <a:r>
              <a:t>- Strong spike at lag 24 — confirming the seasonal period</a:t>
            </a:r>
          </a:p>
          <a:p>
            <a:endParaRPr/>
          </a:p>
          <a:p>
            <a:r>
              <a:t>This guided my SARIMA order selection."</a:t>
            </a:r>
          </a:p>
          <a:p>
            <a:endParaRPr/>
          </a:p>
          <a:p>
            <a:r>
              <a:t>ANTICIPATED QUESTIONS:</a:t>
            </a:r>
          </a:p>
          <a:p>
            <a:r>
              <a:t>Q: "What is multicollinearity?"</a:t>
            </a:r>
          </a:p>
          <a:p>
            <a:r>
              <a:t>A: "When predictors are highly correlated with each other. It doesn't affect predictions but makes coefficients unreliable and inflates standard errors."</a:t>
            </a:r>
          </a:p>
          <a:p>
            <a:endParaRPr/>
          </a:p>
          <a:p>
            <a:r>
              <a:t>Q: "What's the difference between ACF and PACF?"</a:t>
            </a:r>
          </a:p>
          <a:p>
            <a:r>
              <a:t>A: "ACF shows total correlation at each lag. PACF shows direct correlation after removing intermediate effects. ACF suggests MA order, PACF suggests AR order."</a:t>
            </a:r>
          </a:p>
          <a:p>
            <a:endParaRPr/>
          </a:p>
          <a:p>
            <a:r>
              <a:t>TRANSITION:</a:t>
            </a:r>
          </a:p>
          <a:p>
            <a:r>
              <a:t>"Based on this analysis, I engineered features and split the data..."</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HOW TO EXPLAIN THIS SLIDE:</a:t>
            </a:r>
          </a:p>
          <a:p>
            <a:endParaRPr/>
          </a:p>
          <a:p>
            <a:r>
              <a:t>EXPLAIN THE SPLIT:</a:t>
            </a:r>
          </a:p>
          <a:p>
            <a:r>
              <a:t>"I split the data 90-10, but CRITICALLY, it's a TIME-BASED split. The training set is the FIRST 90% chronologically, and the test set is the LAST 10% — about 72 days.</a:t>
            </a:r>
          </a:p>
          <a:p>
            <a:endParaRPr/>
          </a:p>
          <a:p>
            <a:r>
              <a:t>Why not random split? Because that would leak future information into training. If July 2012 data is in training, the model might learn July 2012 patterns and 'cheat' when tested on nearby dates."</a:t>
            </a:r>
          </a:p>
          <a:p>
            <a:endParaRPr/>
          </a:p>
          <a:p>
            <a:r>
              <a:t>EXPLAIN EACH ENGINEERED FEATURE:</a:t>
            </a:r>
          </a:p>
          <a:p>
            <a:r>
              <a:t>"I created 16 features total. Let me explain the key ones:</a:t>
            </a:r>
          </a:p>
          <a:p>
            <a:endParaRPr/>
          </a:p>
          <a:p>
            <a:r>
              <a:t>CYCLICAL ENCODING (hr_sin, hr_cos): I mentioned this earlier. Hours wrap around — 11PM is next to midnight. Sine and cosine preserve this circularity.</a:t>
            </a:r>
          </a:p>
          <a:p>
            <a:endParaRPr/>
          </a:p>
          <a:p>
            <a:r>
              <a:t>TEMP SQUARED: The demand-temperature curve is an inverted U. Too cold or too hot both reduce demand. temp² lets the model learn this curve.</a:t>
            </a:r>
          </a:p>
          <a:p>
            <a:endParaRPr/>
          </a:p>
          <a:p>
            <a:r>
              <a:t>TEMP × HUMIDITY: 30°C at low humidity is pleasant. 30°C at high humidity is miserable. The interaction captures perceived discomfort.</a:t>
            </a:r>
          </a:p>
          <a:p>
            <a:endParaRPr/>
          </a:p>
          <a:p>
            <a:r>
              <a:t>RUSH HOUR: Binary flag for 7-9AM and 5-7PM. Captures the sharp commuter peaks.</a:t>
            </a:r>
          </a:p>
          <a:p>
            <a:endParaRPr/>
          </a:p>
          <a:p>
            <a:r>
              <a:t>IS WEEKEND: Binary flag. Weekend demand patterns are completely different from weekdays — no commuter peaks, just mid-day recreational riding.</a:t>
            </a:r>
          </a:p>
          <a:p>
            <a:endParaRPr/>
          </a:p>
          <a:p>
            <a:r>
              <a:t>LAG FEATURES: For XGBoost, I included demand from 1 hour ago, 24 hours ago (same hour yesterday), 48 hours ago, and 168 hours ago (same hour last week). This gives the model 'memory'."</a:t>
            </a:r>
          </a:p>
          <a:p>
            <a:endParaRPr/>
          </a:p>
          <a:p>
            <a:r>
              <a:t>EXPLAIN THE HEATMAP:</a:t>
            </a:r>
          </a:p>
          <a:p>
            <a:r>
              <a:t>"This heatmap shows correlations AFTER feature engineering. Notice rush_hour has r=0.35 with demand — confirming it captures useful signal."</a:t>
            </a:r>
          </a:p>
          <a:p>
            <a:endParaRPr/>
          </a:p>
          <a:p>
            <a:r>
              <a:t>ANTICIPATED QUESTIONS:</a:t>
            </a:r>
          </a:p>
          <a:p>
            <a:r>
              <a:t>Q: "Why 168-hour lag specifically?"</a:t>
            </a:r>
          </a:p>
          <a:p>
            <a:r>
              <a:t>A: "168 hours = 1 week. Same hour, same day of week. Useful for capturing weekly patterns."</a:t>
            </a:r>
          </a:p>
          <a:p>
            <a:endParaRPr/>
          </a:p>
          <a:p>
            <a:r>
              <a:t>Q: "Why not just use hour as a categorical variable?"</a:t>
            </a:r>
          </a:p>
          <a:p>
            <a:r>
              <a:t>A: "That would create 24 dummy variables and lose the continuity. Cyclical encoding is more elegant and efficient."</a:t>
            </a:r>
          </a:p>
          <a:p>
            <a:endParaRPr/>
          </a:p>
          <a:p>
            <a:r>
              <a:t>TRANSITION:</a:t>
            </a:r>
          </a:p>
          <a:p>
            <a:r>
              <a:t>"Now let me show you the three models I built..."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HOW TO EXPLAIN THIS SLIDE:</a:t>
            </a:r>
          </a:p>
          <a:p>
            <a:endParaRPr/>
          </a:p>
          <a:p>
            <a:r>
              <a:t>EXPLAIN SARIMA:</a:t>
            </a:r>
          </a:p>
          <a:p>
            <a:r>
              <a:t>"SARIMA stands for Seasonal AutoRegressive Integrated Moving Average. It's the workhorse of time series forecasting.</a:t>
            </a:r>
          </a:p>
          <a:p>
            <a:endParaRPr/>
          </a:p>
          <a:p>
            <a:r>
              <a:t>The notation ARIMA(p,d,q)×(P,D,Q,s) means:</a:t>
            </a:r>
          </a:p>
          <a:p>
            <a:r>
              <a:t>- p=1: Use demand from 1 hour ago (AR term)</a:t>
            </a:r>
          </a:p>
          <a:p>
            <a:r>
              <a:t>- d=1: First-order differencing to remove trend</a:t>
            </a:r>
          </a:p>
          <a:p>
            <a:r>
              <a:t>- q=1: Use error from 1 hour ago (MA term)</a:t>
            </a:r>
          </a:p>
          <a:p>
            <a:r>
              <a:t>- P,D,Q: Same but for seasonal component</a:t>
            </a:r>
          </a:p>
          <a:p>
            <a:r>
              <a:t>- s=24: Seasonal period is 24 hours</a:t>
            </a:r>
          </a:p>
          <a:p>
            <a:endParaRPr/>
          </a:p>
          <a:p>
            <a:r>
              <a:t>I started with (1,1,1)×(1,1,1,24) based on ACF/PACF analysis. After tuning, the best order was (2,1,1)×(1,0,0,24) — simpler seasonal component."</a:t>
            </a:r>
          </a:p>
          <a:p>
            <a:endParaRPr/>
          </a:p>
          <a:p>
            <a:r>
              <a:t>EXPLAIN THE GRAPH:</a:t>
            </a:r>
          </a:p>
          <a:p>
            <a:r>
              <a:t>"This graph shows SARIMA's forecasts vs actual demand. It captures the general pattern but struggles with the sharp peaks."</a:t>
            </a:r>
          </a:p>
          <a:p>
            <a:endParaRPr/>
          </a:p>
          <a:p>
            <a:r>
              <a:t>EXPLAIN SARIMAX:</a:t>
            </a:r>
          </a:p>
          <a:p>
            <a:r>
              <a:t>"SARIMAX is SARIMA plus eXogenous variables. I added 11 features: temperature, humidity, windspeed, workingday, holiday, and my engineered features.</a:t>
            </a:r>
          </a:p>
          <a:p>
            <a:endParaRPr/>
          </a:p>
          <a:p>
            <a:r>
              <a:t>Interestingly, the best tuned SARIMAX had NO seasonal component — (1,1,2) with no seasonality. Why? Because hr_sin and hr_cos already capture the hourly pattern. The model doesn't need seasonal AR/MA terms."</a:t>
            </a:r>
          </a:p>
          <a:p>
            <a:endParaRPr/>
          </a:p>
          <a:p>
            <a:r>
              <a:t>EXPLAIN XGBOOST:</a:t>
            </a:r>
          </a:p>
          <a:p>
            <a:r>
              <a:t>"XGBoost is completely different. It's an ensemble of decision trees, built sequentially. Each tree corrects the errors of the previous ones.</a:t>
            </a:r>
          </a:p>
          <a:p>
            <a:endParaRPr/>
          </a:p>
          <a:p>
            <a:r>
              <a:t>I used 1000 estimators with early stopping. The model stopped at iteration 324 when validation error stopped improving.</a:t>
            </a:r>
          </a:p>
          <a:p>
            <a:endParaRPr/>
          </a:p>
          <a:p>
            <a:r>
              <a:t>XGBoost uses all 16 features including lag features. It can automatically learn non-linear relationships and interactions — no need for temp² because trees can split at any threshold."</a:t>
            </a:r>
          </a:p>
          <a:p>
            <a:endParaRPr/>
          </a:p>
          <a:p>
            <a:r>
              <a:t>ANTICIPATED QUESTIONS:</a:t>
            </a:r>
          </a:p>
          <a:p>
            <a:r>
              <a:t>Q: "What does 'd=1' mean practically?"</a:t>
            </a:r>
          </a:p>
          <a:p>
            <a:r>
              <a:t>A: "Instead of predicting demand, the model predicts the CHANGE in demand. This removes trend and makes the series stationary."</a:t>
            </a:r>
          </a:p>
          <a:p>
            <a:endParaRPr/>
          </a:p>
          <a:p>
            <a:r>
              <a:t>Q: "Why did SARIMAX not need seasonality?"</a:t>
            </a:r>
          </a:p>
          <a:p>
            <a:r>
              <a:t>A: "The cyclical encoding (hr_sin, hr_cos) captures the hourly pattern as exogenous features. The model doesn't need to learn it through seasonal AR/MA."</a:t>
            </a:r>
          </a:p>
          <a:p>
            <a:endParaRPr/>
          </a:p>
          <a:p>
            <a:r>
              <a:t>TRANSITION:</a:t>
            </a:r>
          </a:p>
          <a:p>
            <a:r>
              <a:t>"Let me show you the performance results..."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HOW TO EXPLAIN THIS SLIDE:</a:t>
            </a:r>
          </a:p>
          <a:p>
            <a:endParaRPr/>
          </a:p>
          <a:p>
            <a:r>
              <a:t>START WITH THE BIG PICTURE:</a:t>
            </a:r>
          </a:p>
          <a:p>
            <a:r>
              <a:t>"Let me summarize the results. Looking at this bar chart, the story is clear: XGBoost dramatically outperforms the statistical models."</a:t>
            </a:r>
          </a:p>
          <a:p>
            <a:endParaRPr/>
          </a:p>
          <a:p>
            <a:r>
              <a:t>WALK THROUGH THE NUMBERS:</a:t>
            </a:r>
          </a:p>
          <a:p>
            <a:r>
              <a:t>"SARIMA — using only past demand — achieved:</a:t>
            </a:r>
          </a:p>
          <a:p>
            <a:r>
              <a:t>- MAE of 281 bikes (average error per hour)</a:t>
            </a:r>
          </a:p>
          <a:p>
            <a:r>
              <a:t>- MAPE of 15.3% (percentage error)</a:t>
            </a:r>
          </a:p>
          <a:p>
            <a:endParaRPr/>
          </a:p>
          <a:p>
            <a:r>
              <a:t>SARIMAX — adding weather and calendar features — improved to:</a:t>
            </a:r>
          </a:p>
          <a:p>
            <a:r>
              <a:t>- MAE of 214 bikes</a:t>
            </a:r>
          </a:p>
          <a:p>
            <a:r>
              <a:t>- MAPE of 10.5%</a:t>
            </a:r>
          </a:p>
          <a:p>
            <a:r>
              <a:t>That's a 24% improvement over SARIMA. External features clearly help.</a:t>
            </a:r>
          </a:p>
          <a:p>
            <a:endParaRPr/>
          </a:p>
          <a:p>
            <a:r>
              <a:t>XGBoost — the ML approach — achieved:</a:t>
            </a:r>
          </a:p>
          <a:p>
            <a:r>
              <a:t>- MAE of just 26.4 bikes</a:t>
            </a:r>
          </a:p>
          <a:p>
            <a:r>
              <a:t>- MAPE of 0.32%</a:t>
            </a:r>
          </a:p>
          <a:p>
            <a:r>
              <a:t>That's exceptional accuracy."</a:t>
            </a:r>
          </a:p>
          <a:p>
            <a:endParaRPr/>
          </a:p>
          <a:p>
            <a:r>
              <a:t>EXPLAIN WHY XGBOOST WINS:</a:t>
            </a:r>
          </a:p>
          <a:p>
            <a:r>
              <a:t>"Why does XGBoost do so well?</a:t>
            </a:r>
          </a:p>
          <a:p>
            <a:endParaRPr/>
          </a:p>
          <a:p>
            <a:r>
              <a:t>First, LAG FEATURES. Demand 1 hour ago is an incredibly strong predictor. If it was busy at 4PM, it'll probably be busy at 5PM. SARIMA uses lags implicitly, but XGBoost uses them explicitly AND can learn complex patterns from them.</a:t>
            </a:r>
          </a:p>
          <a:p>
            <a:endParaRPr/>
          </a:p>
          <a:p>
            <a:r>
              <a:t>Second, NON-LINEARITY. The temperature-demand relationship is non-linear. SARIMA/SARIMAX assume linearity. XGBoost captures non-linearity through tree splits.</a:t>
            </a:r>
          </a:p>
          <a:p>
            <a:endParaRPr/>
          </a:p>
          <a:p>
            <a:r>
              <a:t>Third, INTERACTIONS. XGBoost automatically discovers interactions — like 'high temperature AND low humidity' leads to high demand. Linear models need explicit interaction terms."</a:t>
            </a:r>
          </a:p>
          <a:p>
            <a:endParaRPr/>
          </a:p>
          <a:p>
            <a:r>
              <a:t>ANTICIPATED QUESTIONS:</a:t>
            </a:r>
          </a:p>
          <a:p>
            <a:r>
              <a:t>Q: "Isn't 0.32% MAPE suspiciously good?"</a:t>
            </a:r>
          </a:p>
          <a:p>
            <a:r>
              <a:t>A: "It's real. The lag_1h feature is extremely predictive. However, this assumes we KNOW demand 1 hour ago at inference time. In real deployment, we'd forecast recursively, which would increase error."</a:t>
            </a:r>
          </a:p>
          <a:p>
            <a:endParaRPr/>
          </a:p>
          <a:p>
            <a:r>
              <a:t>Q: "Why not just use XGBoost then?"</a:t>
            </a:r>
          </a:p>
          <a:p>
            <a:r>
              <a:t>A: "For different use cases. SARIMA is interpretable and doesn't need external features. SARIMAX explains HOW weather affects demand. XGBoost is a black box but very accurate."</a:t>
            </a:r>
          </a:p>
          <a:p>
            <a:endParaRPr/>
          </a:p>
          <a:p>
            <a:r>
              <a:t>TRANSITION:</a:t>
            </a:r>
          </a:p>
          <a:p>
            <a:r>
              <a:t>"These were baseline results. Let me show what happened after tuning..."</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HOW TO EXPLAIN THIS SLIDE:</a:t>
            </a:r>
          </a:p>
          <a:p>
            <a:endParaRPr/>
          </a:p>
          <a:p>
            <a:r>
              <a:t>EXPLAIN THE IMPORTANCE OF TUNING:</a:t>
            </a:r>
          </a:p>
          <a:p>
            <a:r>
              <a:t>"Hyperparameter tuning is often overlooked in research, but it can make a huge difference. Let me show you."</a:t>
            </a:r>
          </a:p>
          <a:p>
            <a:endParaRPr/>
          </a:p>
          <a:p>
            <a:r>
              <a:t>EXPLAIN SARIMA TUNING:</a:t>
            </a:r>
          </a:p>
          <a:p>
            <a:r>
              <a:t>"For SARIMA, I used ACF/PACF analysis to identify promising orders, then tested 3 configurations:</a:t>
            </a:r>
          </a:p>
          <a:p>
            <a:r>
              <a:t>- (1,1,1)×(1,0,0,24)</a:t>
            </a:r>
          </a:p>
          <a:p>
            <a:r>
              <a:t>- (2,1,1)×(1,0,0,24)</a:t>
            </a:r>
          </a:p>
          <a:p>
            <a:r>
              <a:t>- (1,1,2)×(1,0,0,24)</a:t>
            </a:r>
          </a:p>
          <a:p>
            <a:endParaRPr/>
          </a:p>
          <a:p>
            <a:r>
              <a:t>I compared them using AIC — Akaike Information Criterion — which balances fit and complexity.</a:t>
            </a:r>
          </a:p>
          <a:p>
            <a:endParaRPr/>
          </a:p>
          <a:p>
            <a:r>
              <a:t>The winner was (2,1,1)×(1,0,0,24) with AIC of 174,092.</a:t>
            </a:r>
          </a:p>
          <a:p>
            <a:endParaRPr/>
          </a:p>
          <a:p>
            <a:r>
              <a:t>Notice I removed D=1 (seasonal differencing). Why? The seasonal pattern is relatively stable — removing it improved the model.</a:t>
            </a:r>
          </a:p>
          <a:p>
            <a:endParaRPr/>
          </a:p>
          <a:p>
            <a:r>
              <a:t>Result: MAE improved by 37%, RMSE by 40%. That's massive."</a:t>
            </a:r>
          </a:p>
          <a:p>
            <a:endParaRPr/>
          </a:p>
          <a:p>
            <a:r>
              <a:t>EXPLAIN SARIMAX TUNING:</a:t>
            </a:r>
          </a:p>
          <a:p>
            <a:r>
              <a:t>"For SARIMAX, I made a surprising discovery. The BEST model had NO seasonal components at all — just ARIMAX(1,1,2).</a:t>
            </a:r>
          </a:p>
          <a:p>
            <a:endParaRPr/>
          </a:p>
          <a:p>
            <a:r>
              <a:t>Why? Because hr_sin and hr_cos already capture the 24-hour pattern. Adding seasonal AR/MA terms was redundant and actually hurt performance.</a:t>
            </a:r>
          </a:p>
          <a:p>
            <a:endParaRPr/>
          </a:p>
          <a:p>
            <a:r>
              <a:t>Result: MAE improved 32%, MAPE improved 43%."</a:t>
            </a:r>
          </a:p>
          <a:p>
            <a:endParaRPr/>
          </a:p>
          <a:p>
            <a:r>
              <a:t>EXPLAIN XGBOOST TUNING:</a:t>
            </a:r>
          </a:p>
          <a:p>
            <a:r>
              <a:t>"For XGBoost, I used RandomizedSearchCV — it randomly samples hyperparameter combinations and cross-validates each.</a:t>
            </a:r>
          </a:p>
          <a:p>
            <a:endParaRPr/>
          </a:p>
          <a:p>
            <a:r>
              <a:t>I tuned:</a:t>
            </a:r>
          </a:p>
          <a:p>
            <a:r>
              <a:t>- n_estimators (number of trees)</a:t>
            </a:r>
          </a:p>
          <a:p>
            <a:r>
              <a:t>- max_depth (how deep each tree goes)</a:t>
            </a:r>
          </a:p>
          <a:p>
            <a:r>
              <a:t>- learning_rate</a:t>
            </a:r>
          </a:p>
          <a:p>
            <a:r>
              <a:t>- subsample (fraction of data per tree)</a:t>
            </a:r>
          </a:p>
          <a:p>
            <a:endParaRPr/>
          </a:p>
          <a:p>
            <a:r>
              <a:t>Best: max_depth=5, learning_rate=0.15.</a:t>
            </a:r>
          </a:p>
          <a:p>
            <a:endParaRPr/>
          </a:p>
          <a:p>
            <a:r>
              <a:t>Result: Only ~2% improvement. XGBoost was already well-tuned. This is common — XGBoost is quite robust to hyperparameters."</a:t>
            </a:r>
          </a:p>
          <a:p>
            <a:endParaRPr/>
          </a:p>
          <a:p>
            <a:r>
              <a:t>ANTICIPATED QUESTIONS:</a:t>
            </a:r>
          </a:p>
          <a:p>
            <a:r>
              <a:t>Q: "Why not use auto_arima?"</a:t>
            </a:r>
          </a:p>
          <a:p>
            <a:r>
              <a:t>A: "With s=24, auto_arima takes 15-30 minutes because it tests many combinations. My grid search with 3 ACF/PACF-informed orders took 2 minutes and found a better model."</a:t>
            </a:r>
          </a:p>
          <a:p>
            <a:endParaRPr/>
          </a:p>
          <a:p>
            <a:r>
              <a:t>Q: "What is AIC?"</a:t>
            </a:r>
          </a:p>
          <a:p>
            <a:r>
              <a:t>A: "Akaike Information Criterion. It measures how well the model fits the data while penalizing complexity. Lower is better. It helps avoid overfitting."</a:t>
            </a:r>
          </a:p>
          <a:p>
            <a:endParaRPr/>
          </a:p>
          <a:p>
            <a:r>
              <a:t>TRANSITION:</a:t>
            </a:r>
          </a:p>
          <a:p>
            <a:r>
              <a:t>"Let me discuss what these results mean..."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HOW TO EXPLAIN THIS SLIDE:</a:t>
            </a:r>
          </a:p>
          <a:p>
            <a:endParaRPr/>
          </a:p>
          <a:p>
            <a:r>
              <a:t>EXPLAIN THE FORECAST GRAPH:</a:t>
            </a:r>
          </a:p>
          <a:p>
            <a:r>
              <a:t>"This graph shows XGBoost's forecasts vs actual demand over 300 hours. The blue line (forecast) almost perfectly tracks the black line (actual). You can barely see a difference."</a:t>
            </a:r>
          </a:p>
          <a:p>
            <a:endParaRPr/>
          </a:p>
          <a:p>
            <a:r>
              <a:t>SUMMARIZE THE FINDINGS:</a:t>
            </a:r>
          </a:p>
          <a:p>
            <a:r>
              <a:t>"Let me summarize what I found:</a:t>
            </a:r>
          </a:p>
          <a:p>
            <a:endParaRPr/>
          </a:p>
          <a:p>
            <a:r>
              <a:t>1. XGBoost wins convincingly — MAE of 26 bikes, MAPE of 0.32%</a:t>
            </a:r>
          </a:p>
          <a:p>
            <a:endParaRPr/>
          </a:p>
          <a:p>
            <a:r>
              <a:t>2. SARIMAX after tuning achieved MAPE of 5.98% — good, but nowhere near XGBoost</a:t>
            </a:r>
          </a:p>
          <a:p>
            <a:endParaRPr/>
          </a:p>
          <a:p>
            <a:r>
              <a:t>3. Tuning mattered a lot — 30-43% improvement for statistical models"</a:t>
            </a:r>
          </a:p>
          <a:p>
            <a:endParaRPr/>
          </a:p>
          <a:p>
            <a:r>
              <a:t>EXPLAIN WHY XGBOOST WINS:</a:t>
            </a:r>
          </a:p>
          <a:p>
            <a:r>
              <a:t>"The key insight is that bike demand is HIGHLY AUTOCORRELATED. Demand now strongly predicts demand in the next hour. lag_1h is by far the most important feature.</a:t>
            </a:r>
          </a:p>
          <a:p>
            <a:endParaRPr/>
          </a:p>
          <a:p>
            <a:r>
              <a:t>XGBoost can use this information directly. SARIMA uses lags implicitly through AR terms, but the lag features give XGBoost more flexibility.</a:t>
            </a:r>
          </a:p>
          <a:p>
            <a:endParaRPr/>
          </a:p>
          <a:p>
            <a:r>
              <a:t>Also, XGBoost handles non-linearity. The temperature-demand curve, hour-of-day patterns, weather interactions — XGBoost learns these automatically. SARIMA/SARIMAX need explicit feature engineering."</a:t>
            </a:r>
          </a:p>
          <a:p>
            <a:endParaRPr/>
          </a:p>
          <a:p>
            <a:r>
              <a:t>BE HONEST ABOUT LIMITATIONS:</a:t>
            </a:r>
          </a:p>
          <a:p>
            <a:r>
              <a:t>"But there are limitations:</a:t>
            </a:r>
          </a:p>
          <a:p>
            <a:endParaRPr/>
          </a:p>
          <a:p>
            <a:r>
              <a:t>1. COMPUTATION: SARIMA with s=24 is slow. Each model fit takes 30+ seconds.</a:t>
            </a:r>
          </a:p>
          <a:p>
            <a:endParaRPr/>
          </a:p>
          <a:p>
            <a:r>
              <a:t>2. DEPLOYMENT: XGBoost needs lag values. In real-time deployment, we might not have demand from 1 hour ago immediately. We'd need to forecast recursively, which compounds errors.</a:t>
            </a:r>
          </a:p>
          <a:p>
            <a:endParaRPr/>
          </a:p>
          <a:p>
            <a:r>
              <a:t>3. GENERALIZATION: This is 2011-2012 data. Post-COVID patterns are completely different. The model wouldn't work today without retraining."</a:t>
            </a:r>
          </a:p>
          <a:p>
            <a:endParaRPr/>
          </a:p>
          <a:p>
            <a:r>
              <a:t>ANTICIPATED QUESTIONS:</a:t>
            </a:r>
          </a:p>
          <a:p>
            <a:r>
              <a:t>Q: "How would you deploy this in practice?"</a:t>
            </a:r>
          </a:p>
          <a:p>
            <a:r>
              <a:t>A: "XGBoost with lag features would be updated hourly as new data arrives. For multi-step forecasting, use predicted values as inputs (recursive forecasting)."</a:t>
            </a:r>
          </a:p>
          <a:p>
            <a:endParaRPr/>
          </a:p>
          <a:p>
            <a:r>
              <a:t>Q: "Could you combine the models?"</a:t>
            </a:r>
          </a:p>
          <a:p>
            <a:r>
              <a:t>A: "Yes! Ensemble methods could combine SARIMAX (interpretable) with XGBoost (accurate). That's a potential future extension."</a:t>
            </a:r>
          </a:p>
          <a:p>
            <a:endParaRPr/>
          </a:p>
          <a:p>
            <a:r>
              <a:t>TRANSITION:</a:t>
            </a:r>
          </a:p>
          <a:p>
            <a:r>
              <a:t>"Let me conclude with the key takeaways..."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HOW TO EXPLAIN THIS SLIDE:</a:t>
            </a:r>
          </a:p>
          <a:p>
            <a:endParaRPr/>
          </a:p>
          <a:p>
            <a:r>
              <a:t>EXPLAIN THE LEARNING CURVE GRAPH:</a:t>
            </a:r>
          </a:p>
          <a:p>
            <a:r>
              <a:t>"This graph shows XGBoost's learning curve — training and validation RMSE across boosting iterations. Both decrease and converge, indicating the model is learning well without overfitting. Early stopping kicked in at iteration 324."</a:t>
            </a:r>
          </a:p>
          <a:p>
            <a:endParaRPr/>
          </a:p>
          <a:p>
            <a:r>
              <a:t>DELIVER YOUR CONCLUSIONS CONFIDENTLY:</a:t>
            </a:r>
          </a:p>
          <a:p>
            <a:r>
              <a:t>"Let me conclude with the key findings:</a:t>
            </a:r>
          </a:p>
          <a:p>
            <a:endParaRPr/>
          </a:p>
          <a:p>
            <a:r>
              <a:t>FIRST: I successfully compared three forecasting approaches on the same dataset with consistent methodology. This addresses the research gap I identified.</a:t>
            </a:r>
          </a:p>
          <a:p>
            <a:endParaRPr/>
          </a:p>
          <a:p>
            <a:r>
              <a:t>SECOND: XGBoost with lag features achieves exceptional accuracy — 0.32% MAPE. This confirms that ML methods can significantly outperform classical time series on this task.</a:t>
            </a:r>
          </a:p>
          <a:p>
            <a:endParaRPr/>
          </a:p>
          <a:p>
            <a:r>
              <a:t>THIRD: Hyperparameter tuning really matters. SARIMA improved 40%, SARIMAX improved 43%. This is why benchmarks without proper tuning can be misleading.</a:t>
            </a:r>
          </a:p>
          <a:p>
            <a:endParaRPr/>
          </a:p>
          <a:p>
            <a:r>
              <a:t>FOURTH: The single most important insight is the power of LAG FEATURES. Demand 1 hour ago is an incredibly strong predictor. This has practical implications for deployment."</a:t>
            </a:r>
          </a:p>
          <a:p>
            <a:endParaRPr/>
          </a:p>
          <a:p>
            <a:r>
              <a:t>DISCUSS FUTURE WORK:</a:t>
            </a:r>
          </a:p>
          <a:p>
            <a:r>
              <a:t>"For future work, I would:</a:t>
            </a:r>
          </a:p>
          <a:p>
            <a:endParaRPr/>
          </a:p>
          <a:p>
            <a:r>
              <a:t>1. DEPLOY as a real-time API that updates hourly</a:t>
            </a:r>
          </a:p>
          <a:p>
            <a:endParaRPr/>
          </a:p>
          <a:p>
            <a:r>
              <a:t>2. EXTEND to spatial forecasting — predict demand at individual stations, not just city-wide</a:t>
            </a:r>
          </a:p>
          <a:p>
            <a:endParaRPr/>
          </a:p>
          <a:p>
            <a:r>
              <a:t>3. TEST on post-pandemic data — mobility patterns have fundamentally changed</a:t>
            </a:r>
          </a:p>
          <a:p>
            <a:endParaRPr/>
          </a:p>
          <a:p>
            <a:r>
              <a:t>4. EXPLORE deep learning — LSTM or Transformers might capture longer-term patterns"</a:t>
            </a:r>
          </a:p>
          <a:p>
            <a:endParaRPr/>
          </a:p>
          <a:p>
            <a:r>
              <a:t>ANTICIPATED QUESTIONS:</a:t>
            </a:r>
          </a:p>
          <a:p>
            <a:r>
              <a:t>Q: "What's the main contribution of your work?"</a:t>
            </a:r>
          </a:p>
          <a:p>
            <a:r>
              <a:t>A: "Systematic comparison with proper tuning, feature engineering (cyclical encoding, interactions), and the insight that lag features are crucial."</a:t>
            </a:r>
          </a:p>
          <a:p>
            <a:endParaRPr/>
          </a:p>
          <a:p>
            <a:r>
              <a:t>Q: "What would you do differently?"</a:t>
            </a:r>
          </a:p>
          <a:p>
            <a:r>
              <a:t>A: "I'd use more recent data, implement spatial forecasting for individual stations, and try ensemble methods."</a:t>
            </a:r>
          </a:p>
          <a:p>
            <a:endParaRPr/>
          </a:p>
          <a:p>
            <a:r>
              <a:t>Q: "Is this publishable?"</a:t>
            </a:r>
          </a:p>
          <a:p>
            <a:r>
              <a:t>A: "Yes, in a transportation or forecasting journal. The methodology is sound and the results are clear."</a:t>
            </a:r>
          </a:p>
          <a:p>
            <a:endParaRPr/>
          </a:p>
          <a:p>
            <a:r>
              <a:t>TRANSITION:</a:t>
            </a:r>
          </a:p>
          <a:p>
            <a:r>
              <a:t>"Thank you. Here are my references, and I'm happy to take questions..."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r>
              <a:t>HOW TO USE THIS SLIDE:</a:t>
            </a:r>
          </a:p>
          <a:p>
            <a:endParaRPr/>
          </a:p>
          <a:p>
            <a:r>
              <a:t>QUICKLY MENTION KEY REFERENCES:</a:t>
            </a:r>
          </a:p>
          <a:p>
            <a:r>
              <a:t>"My work builds on several key papers:</a:t>
            </a:r>
          </a:p>
          <a:p>
            <a:endParaRPr/>
          </a:p>
          <a:p>
            <a:r>
              <a:t>Fanaee-T and Gama created the dataset I used.</a:t>
            </a:r>
          </a:p>
          <a:p>
            <a:endParaRPr/>
          </a:p>
          <a:p>
            <a:r>
              <a:t>Hyndman and Athanasopoulos's textbook guided my ARIMA methodology.</a:t>
            </a:r>
          </a:p>
          <a:p>
            <a:endParaRPr/>
          </a:p>
          <a:p>
            <a:r>
              <a:t>Chen et al. and Sathishkumar et al. provided benchmarks to compare against."</a:t>
            </a:r>
          </a:p>
          <a:p>
            <a:endParaRPr/>
          </a:p>
          <a:p>
            <a:r>
              <a:t>MENTION YOUR TOOLS:</a:t>
            </a:r>
          </a:p>
          <a:p>
            <a:r>
              <a:t>"I used Python with statsmodels for SARIMA, XGBoost for gradient boosting, and scikit-learn for cross-validation. All code is available on GitHub."</a:t>
            </a:r>
          </a:p>
          <a:p>
            <a:endParaRPr/>
          </a:p>
          <a:p>
            <a:r>
              <a:t>PREPARE FOR QUESTIONS:</a:t>
            </a:r>
          </a:p>
          <a:p>
            <a:r>
              <a:t>This slide usually triggers final questions. Be ready for:</a:t>
            </a:r>
          </a:p>
          <a:p>
            <a:endParaRPr/>
          </a:p>
          <a:p>
            <a:r>
              <a:t>Q: "What question would you ask a student presenting this?"</a:t>
            </a:r>
          </a:p>
          <a:p>
            <a:r>
              <a:t>A: "I'd ask about deployment — how would you handle real-time updates and recursive forecasting?"</a:t>
            </a:r>
          </a:p>
          <a:p>
            <a:endParaRPr/>
          </a:p>
          <a:p>
            <a:r>
              <a:t>Q: "What was the hardest part?"</a:t>
            </a:r>
          </a:p>
          <a:p>
            <a:r>
              <a:t>A: "SARIMA tuning. Seasonal period 24 makes it slow, and choosing orders requires judgment."</a:t>
            </a:r>
          </a:p>
          <a:p>
            <a:endParaRPr/>
          </a:p>
          <a:p>
            <a:r>
              <a:t>Q: "What did you learn?"</a:t>
            </a:r>
          </a:p>
          <a:p>
            <a:r>
              <a:t>A: "The importance of proper evaluation — time-based splits, consistent metrics, and hyperparameter tuning."</a:t>
            </a:r>
          </a:p>
          <a:p>
            <a:endParaRPr/>
          </a:p>
          <a:p>
            <a:r>
              <a:t>CLOSING:</a:t>
            </a:r>
          </a:p>
          <a:p>
            <a:r>
              <a:t>"Thank you for your attention. I'm happy to take any questions about the methodology, results, or implementation."</a:t>
            </a:r>
          </a:p>
          <a:p>
            <a:endParaRPr/>
          </a:p>
          <a:p>
            <a:r>
              <a:t>CONFIDENCE TIPS FOR Q&amp;A:</a:t>
            </a:r>
          </a:p>
          <a:p>
            <a:r>
              <a:t>- If you don't know an answer, say "That's a good question. I'd need to investigate that further."</a:t>
            </a:r>
          </a:p>
          <a:p>
            <a:r>
              <a:t>- Relate questions back to your results when possible</a:t>
            </a:r>
          </a:p>
          <a:p>
            <a:r>
              <a:t>- Stay calm — you know this work better than anyone</a:t>
            </a: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3200400"/>
            <a:ext cx="12191695" cy="73152"/>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828800"/>
            <a:ext cx="11247120" cy="1188720"/>
          </a:xfrm>
          <a:prstGeom prst="rect">
            <a:avLst/>
          </a:prstGeom>
          <a:noFill/>
        </p:spPr>
        <p:txBody>
          <a:bodyPr wrap="none">
            <a:spAutoFit/>
          </a:bodyPr>
          <a:lstStyle/>
          <a:p>
            <a:pPr algn="ctr">
              <a:defRPr sz="4400" b="1">
                <a:solidFill>
                  <a:srgbClr val="FFFFFF"/>
                </a:solidFill>
              </a:defRPr>
            </a:pPr>
            <a:r>
              <a:t>Bike Sharing Demand Forecasting</a:t>
            </a:r>
            <a:br/>
            <a:r>
              <a:t>Using Time Series &amp; Machine Learning</a:t>
            </a:r>
          </a:p>
        </p:txBody>
      </p:sp>
      <p:sp>
        <p:nvSpPr>
          <p:cNvPr id="5" name="TextBox 4"/>
          <p:cNvSpPr txBox="1"/>
          <p:nvPr/>
        </p:nvSpPr>
        <p:spPr>
          <a:xfrm>
            <a:off x="3608320" y="3474720"/>
            <a:ext cx="4944880" cy="1446550"/>
          </a:xfrm>
          <a:prstGeom prst="rect">
            <a:avLst/>
          </a:prstGeom>
          <a:noFill/>
        </p:spPr>
        <p:txBody>
          <a:bodyPr wrap="none">
            <a:spAutoFit/>
          </a:bodyPr>
          <a:lstStyle/>
          <a:p>
            <a:pPr algn="ctr">
              <a:defRPr sz="2200">
                <a:solidFill>
                  <a:srgbClr val="C8C8D2"/>
                </a:solidFill>
              </a:defRPr>
            </a:pPr>
            <a:r>
              <a:rPr lang="fi-FI" dirty="0"/>
              <a:t>Naga Venkata Sai Ram Charan Pullabhotla</a:t>
            </a:r>
          </a:p>
          <a:p>
            <a:pPr algn="ctr">
              <a:defRPr sz="2200">
                <a:solidFill>
                  <a:srgbClr val="C8C8D2"/>
                </a:solidFill>
              </a:defRPr>
            </a:pPr>
            <a:r>
              <a:rPr lang="fi-FI" dirty="0"/>
              <a:t>Student ID: 24071651</a:t>
            </a:r>
            <a:br>
              <a:rPr dirty="0"/>
            </a:br>
            <a:r>
              <a:rPr dirty="0"/>
              <a:t>M.Sc. Data Science</a:t>
            </a:r>
            <a:br>
              <a:rPr dirty="0"/>
            </a:br>
            <a:r>
              <a:rPr dirty="0"/>
              <a:t>University of Hertfordshire</a:t>
            </a:r>
          </a:p>
        </p:txBody>
      </p:sp>
      <p:sp>
        <p:nvSpPr>
          <p:cNvPr id="6" name="TextBox 5"/>
          <p:cNvSpPr txBox="1"/>
          <p:nvPr/>
        </p:nvSpPr>
        <p:spPr>
          <a:xfrm>
            <a:off x="2558802" y="6263640"/>
            <a:ext cx="7043915" cy="307777"/>
          </a:xfrm>
          <a:prstGeom prst="rect">
            <a:avLst/>
          </a:prstGeom>
          <a:noFill/>
        </p:spPr>
        <p:txBody>
          <a:bodyPr wrap="none">
            <a:spAutoFit/>
          </a:bodyPr>
          <a:lstStyle/>
          <a:p>
            <a:pPr algn="ctr">
              <a:defRPr sz="1400">
                <a:solidFill>
                  <a:srgbClr val="B4B4BE"/>
                </a:solidFill>
              </a:defRPr>
            </a:pPr>
            <a:r>
              <a:rPr lang="fi-FI" dirty="0"/>
              <a:t>Naga Venkata Sai Ram Charan Pullabhotla</a:t>
            </a:r>
            <a:r>
              <a:rPr dirty="0"/>
              <a:t>  •  M.Sc. Data Science  •  University of Hertfordshire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457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058400" cy="731520"/>
          </a:xfrm>
          <a:prstGeom prst="rect">
            <a:avLst/>
          </a:prstGeom>
          <a:noFill/>
        </p:spPr>
        <p:txBody>
          <a:bodyPr wrap="none">
            <a:spAutoFit/>
          </a:bodyPr>
          <a:lstStyle/>
          <a:p>
            <a:pPr>
              <a:defRPr sz="3000" b="1">
                <a:solidFill>
                  <a:srgbClr val="FFFFFF"/>
                </a:solidFill>
              </a:defRPr>
            </a:pPr>
            <a:r>
              <a:t>Introduction</a:t>
            </a:r>
          </a:p>
        </p:txBody>
      </p:sp>
      <p:pic>
        <p:nvPicPr>
          <p:cNvPr id="5" name="Picture 4" descr="01_time_series.png"/>
          <p:cNvPicPr>
            <a:picLocks noChangeAspect="1"/>
          </p:cNvPicPr>
          <p:nvPr/>
        </p:nvPicPr>
        <p:blipFill>
          <a:blip r:embed="rId3"/>
          <a:stretch>
            <a:fillRect/>
          </a:stretch>
        </p:blipFill>
        <p:spPr>
          <a:xfrm>
            <a:off x="5943600" y="1280160"/>
            <a:ext cx="5943600" cy="2082971"/>
          </a:xfrm>
          <a:prstGeom prst="rect">
            <a:avLst/>
          </a:prstGeom>
        </p:spPr>
      </p:pic>
      <p:sp>
        <p:nvSpPr>
          <p:cNvPr id="6" name="TextBox 5"/>
          <p:cNvSpPr txBox="1"/>
          <p:nvPr/>
        </p:nvSpPr>
        <p:spPr>
          <a:xfrm>
            <a:off x="365760" y="1371600"/>
            <a:ext cx="5394960" cy="3580467"/>
          </a:xfrm>
          <a:prstGeom prst="rect">
            <a:avLst/>
          </a:prstGeom>
          <a:noFill/>
        </p:spPr>
        <p:txBody>
          <a:bodyPr wrap="square">
            <a:spAutoFit/>
          </a:bodyPr>
          <a:lstStyle/>
          <a:p>
            <a:pPr>
              <a:spcBef>
                <a:spcPts val="800"/>
              </a:spcBef>
              <a:spcAft>
                <a:spcPts val="200"/>
              </a:spcAft>
              <a:defRPr sz="1400" b="1">
                <a:solidFill>
                  <a:srgbClr val="003366"/>
                </a:solidFill>
              </a:defRPr>
            </a:pPr>
            <a:r>
              <a:rPr dirty="0"/>
              <a:t>MOTIVATION &amp; PROBLEM STATEMENT</a:t>
            </a:r>
          </a:p>
          <a:p>
            <a:pPr>
              <a:spcAft>
                <a:spcPts val="200"/>
              </a:spcAft>
              <a:defRPr sz="1100">
                <a:solidFill>
                  <a:srgbClr val="3C3C46"/>
                </a:solidFill>
              </a:defRPr>
            </a:pPr>
            <a:r>
              <a:rPr dirty="0"/>
              <a:t>    </a:t>
            </a:r>
            <a:r>
              <a:rPr sz="1200" dirty="0"/>
              <a:t>• Bike sharing systems have become integral to</a:t>
            </a:r>
          </a:p>
          <a:p>
            <a:pPr>
              <a:spcAft>
                <a:spcPts val="200"/>
              </a:spcAft>
              <a:defRPr sz="1100">
                <a:solidFill>
                  <a:srgbClr val="3C3C46"/>
                </a:solidFill>
              </a:defRPr>
            </a:pPr>
            <a:r>
              <a:rPr sz="1200" dirty="0"/>
              <a:t>      urban mobility in 500+ cities worldwide, offering</a:t>
            </a:r>
          </a:p>
          <a:p>
            <a:pPr>
              <a:spcAft>
                <a:spcPts val="200"/>
              </a:spcAft>
              <a:defRPr sz="1100">
                <a:solidFill>
                  <a:srgbClr val="3C3C46"/>
                </a:solidFill>
              </a:defRPr>
            </a:pPr>
            <a:r>
              <a:rPr sz="1200" dirty="0"/>
              <a:t>      eco-friendly last-mile transportation solutions</a:t>
            </a:r>
          </a:p>
          <a:p>
            <a:pPr>
              <a:spcAft>
                <a:spcPts val="200"/>
              </a:spcAft>
              <a:defRPr sz="1100">
                <a:solidFill>
                  <a:srgbClr val="3C3C46"/>
                </a:solidFill>
              </a:defRPr>
            </a:pPr>
            <a:r>
              <a:rPr sz="1200" dirty="0"/>
              <a:t>    • Operators face critical demand-supply imbalance:</a:t>
            </a:r>
          </a:p>
          <a:p>
            <a:pPr>
              <a:spcAft>
                <a:spcPts val="200"/>
              </a:spcAft>
              <a:defRPr sz="1100">
                <a:solidFill>
                  <a:srgbClr val="3C3C46"/>
                </a:solidFill>
              </a:defRPr>
            </a:pPr>
            <a:r>
              <a:rPr sz="1200" dirty="0"/>
              <a:t>      stations often empty during rush hours while</a:t>
            </a:r>
          </a:p>
          <a:p>
            <a:pPr>
              <a:spcAft>
                <a:spcPts val="200"/>
              </a:spcAft>
              <a:defRPr sz="1100">
                <a:solidFill>
                  <a:srgbClr val="3C3C46"/>
                </a:solidFill>
              </a:defRPr>
            </a:pPr>
            <a:r>
              <a:rPr sz="1200" dirty="0"/>
              <a:t>      bikes accumulate unused at other locations</a:t>
            </a:r>
          </a:p>
          <a:p>
            <a:pPr>
              <a:spcAft>
                <a:spcPts val="200"/>
              </a:spcAft>
              <a:defRPr sz="1100">
                <a:solidFill>
                  <a:srgbClr val="3C3C46"/>
                </a:solidFill>
              </a:defRPr>
            </a:pPr>
            <a:r>
              <a:rPr sz="1200" dirty="0"/>
              <a:t>    • Weather, time of day, holidays, and commuter</a:t>
            </a:r>
          </a:p>
          <a:p>
            <a:pPr>
              <a:spcAft>
                <a:spcPts val="200"/>
              </a:spcAft>
              <a:defRPr sz="1100">
                <a:solidFill>
                  <a:srgbClr val="3C3C46"/>
                </a:solidFill>
              </a:defRPr>
            </a:pPr>
            <a:r>
              <a:rPr sz="1200" dirty="0"/>
              <a:t>      patterns cause highly volatile hourly demand</a:t>
            </a:r>
          </a:p>
          <a:p>
            <a:pPr>
              <a:spcAft>
                <a:spcPts val="200"/>
              </a:spcAft>
              <a:defRPr sz="1100">
                <a:solidFill>
                  <a:srgbClr val="3C3C46"/>
                </a:solidFill>
              </a:defRPr>
            </a:pPr>
            <a:endParaRPr dirty="0"/>
          </a:p>
          <a:p>
            <a:pPr>
              <a:spcBef>
                <a:spcPts val="800"/>
              </a:spcBef>
              <a:spcAft>
                <a:spcPts val="200"/>
              </a:spcAft>
              <a:defRPr sz="1400" b="1">
                <a:solidFill>
                  <a:srgbClr val="003366"/>
                </a:solidFill>
              </a:defRPr>
            </a:pPr>
            <a:r>
              <a:rPr dirty="0"/>
              <a:t>RESEARCH OBJECTIVES</a:t>
            </a:r>
          </a:p>
          <a:p>
            <a:pPr>
              <a:spcAft>
                <a:spcPts val="200"/>
              </a:spcAft>
              <a:defRPr sz="1100">
                <a:solidFill>
                  <a:srgbClr val="3C3C46"/>
                </a:solidFill>
              </a:defRPr>
            </a:pPr>
            <a:r>
              <a:rPr sz="1200" dirty="0"/>
              <a:t>    • Primary: Forecast hourly bike rental demand</a:t>
            </a:r>
          </a:p>
          <a:p>
            <a:pPr>
              <a:spcAft>
                <a:spcPts val="200"/>
              </a:spcAft>
              <a:defRPr sz="1100">
                <a:solidFill>
                  <a:srgbClr val="3C3C46"/>
                </a:solidFill>
              </a:defRPr>
            </a:pPr>
            <a:r>
              <a:rPr sz="1200" dirty="0"/>
              <a:t>      using time series &amp; machine learning models</a:t>
            </a:r>
          </a:p>
          <a:p>
            <a:pPr>
              <a:spcAft>
                <a:spcPts val="200"/>
              </a:spcAft>
              <a:defRPr sz="1100">
                <a:solidFill>
                  <a:srgbClr val="3C3C46"/>
                </a:solidFill>
              </a:defRPr>
            </a:pPr>
            <a:r>
              <a:rPr sz="1200" dirty="0"/>
              <a:t>    • Compare SARIMA, SARIMAX, and </a:t>
            </a:r>
            <a:r>
              <a:rPr sz="1200" dirty="0" err="1"/>
              <a:t>XGBoost</a:t>
            </a:r>
            <a:r>
              <a:rPr sz="1200" dirty="0"/>
              <a:t> accuracy</a:t>
            </a:r>
          </a:p>
          <a:p>
            <a:pPr>
              <a:spcAft>
                <a:spcPts val="200"/>
              </a:spcAft>
              <a:defRPr sz="1100">
                <a:solidFill>
                  <a:srgbClr val="3C3C46"/>
                </a:solidFill>
              </a:defRPr>
            </a:pPr>
            <a:r>
              <a:rPr sz="1200" dirty="0"/>
              <a:t>    • Identify which features drive demand patterns</a:t>
            </a:r>
          </a:p>
          <a:p>
            <a:pPr>
              <a:spcAft>
                <a:spcPts val="200"/>
              </a:spcAft>
              <a:defRPr sz="1100">
                <a:solidFill>
                  <a:srgbClr val="3C3C46"/>
                </a:solidFill>
              </a:defRPr>
            </a:pPr>
            <a:r>
              <a:rPr sz="1200" dirty="0"/>
              <a:t>    • Optimize models through hyperparameter tuning</a:t>
            </a:r>
          </a:p>
        </p:txBody>
      </p:sp>
      <p:sp>
        <p:nvSpPr>
          <p:cNvPr id="7" name="Rectangle 6"/>
          <p:cNvSpPr/>
          <p:nvPr/>
        </p:nvSpPr>
        <p:spPr>
          <a:xfrm>
            <a:off x="0" y="6355080"/>
            <a:ext cx="12191695" cy="50292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6428232"/>
            <a:ext cx="3657600" cy="365760"/>
          </a:xfrm>
          <a:prstGeom prst="rect">
            <a:avLst/>
          </a:prstGeom>
          <a:noFill/>
        </p:spPr>
        <p:txBody>
          <a:bodyPr wrap="none">
            <a:spAutoFit/>
          </a:bodyPr>
          <a:lstStyle/>
          <a:p>
            <a:pPr>
              <a:defRPr sz="1100">
                <a:solidFill>
                  <a:srgbClr val="FFFFFF"/>
                </a:solidFill>
              </a:defRPr>
            </a:pPr>
            <a:r>
              <a:t>Slide 2</a:t>
            </a:r>
          </a:p>
        </p:txBody>
      </p:sp>
      <p:sp>
        <p:nvSpPr>
          <p:cNvPr id="9" name="TextBox 8"/>
          <p:cNvSpPr txBox="1"/>
          <p:nvPr/>
        </p:nvSpPr>
        <p:spPr>
          <a:xfrm>
            <a:off x="7581214" y="6428232"/>
            <a:ext cx="4305986" cy="261610"/>
          </a:xfrm>
          <a:prstGeom prst="rect">
            <a:avLst/>
          </a:prstGeom>
          <a:noFill/>
        </p:spPr>
        <p:txBody>
          <a:bodyPr wrap="none">
            <a:spAutoFit/>
          </a:bodyPr>
          <a:lstStyle/>
          <a:p>
            <a:pPr algn="r">
              <a:defRPr sz="1100">
                <a:solidFill>
                  <a:srgbClr val="FFFFFF"/>
                </a:solidFill>
              </a:defRPr>
            </a:pPr>
            <a:r>
              <a:rPr lang="fi-FI" dirty="0"/>
              <a:t>Naga Venkata Sai Ram Charan Pullabhotla</a:t>
            </a:r>
            <a:r>
              <a:rPr dirty="0"/>
              <a:t>  |  University of Hertfordshire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457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058400" cy="731520"/>
          </a:xfrm>
          <a:prstGeom prst="rect">
            <a:avLst/>
          </a:prstGeom>
          <a:noFill/>
        </p:spPr>
        <p:txBody>
          <a:bodyPr wrap="none">
            <a:spAutoFit/>
          </a:bodyPr>
          <a:lstStyle/>
          <a:p>
            <a:pPr>
              <a:defRPr sz="3000" b="1">
                <a:solidFill>
                  <a:srgbClr val="FFFFFF"/>
                </a:solidFill>
              </a:defRPr>
            </a:pPr>
            <a:r>
              <a:t>Literature Review (1/2)</a:t>
            </a:r>
          </a:p>
        </p:txBody>
      </p:sp>
      <p:sp>
        <p:nvSpPr>
          <p:cNvPr id="5" name="TextBox 4"/>
          <p:cNvSpPr txBox="1"/>
          <p:nvPr/>
        </p:nvSpPr>
        <p:spPr>
          <a:xfrm>
            <a:off x="548640" y="1371600"/>
            <a:ext cx="11064240" cy="4260141"/>
          </a:xfrm>
          <a:prstGeom prst="rect">
            <a:avLst/>
          </a:prstGeom>
          <a:noFill/>
        </p:spPr>
        <p:txBody>
          <a:bodyPr wrap="square">
            <a:spAutoFit/>
          </a:bodyPr>
          <a:lstStyle/>
          <a:p>
            <a:pPr>
              <a:spcBef>
                <a:spcPts val="1200"/>
              </a:spcBef>
              <a:spcAft>
                <a:spcPts val="400"/>
              </a:spcAft>
              <a:defRPr sz="1800" b="1">
                <a:solidFill>
                  <a:srgbClr val="003366"/>
                </a:solidFill>
              </a:defRPr>
            </a:pPr>
            <a:r>
              <a:rPr sz="1400" dirty="0"/>
              <a:t>CLASSICAL TIME SERIES APPROACHES</a:t>
            </a:r>
          </a:p>
          <a:p>
            <a:pPr>
              <a:spcAft>
                <a:spcPts val="500"/>
              </a:spcAft>
              <a:defRPr sz="1600">
                <a:solidFill>
                  <a:srgbClr val="3C3C46"/>
                </a:solidFill>
              </a:defRPr>
            </a:pPr>
            <a:r>
              <a:rPr sz="1200" dirty="0"/>
              <a:t>    • </a:t>
            </a:r>
            <a:r>
              <a:rPr sz="1200" dirty="0" err="1"/>
              <a:t>Fanaee</a:t>
            </a:r>
            <a:r>
              <a:rPr sz="1200" dirty="0"/>
              <a:t>-T &amp; Gama (2014) - Pioneering work that introduced the</a:t>
            </a:r>
          </a:p>
          <a:p>
            <a:pPr>
              <a:spcAft>
                <a:spcPts val="500"/>
              </a:spcAft>
              <a:defRPr sz="1600">
                <a:solidFill>
                  <a:srgbClr val="3C3C46"/>
                </a:solidFill>
              </a:defRPr>
            </a:pPr>
            <a:r>
              <a:rPr sz="1200" dirty="0"/>
              <a:t>      UCI Bike Sharing Dataset linking weather, calendar features to</a:t>
            </a:r>
          </a:p>
          <a:p>
            <a:pPr>
              <a:spcAft>
                <a:spcPts val="500"/>
              </a:spcAft>
              <a:defRPr sz="1600">
                <a:solidFill>
                  <a:srgbClr val="3C3C46"/>
                </a:solidFill>
              </a:defRPr>
            </a:pPr>
            <a:r>
              <a:rPr sz="1200" dirty="0"/>
              <a:t>      rental patterns; demonstrated ensemble methods for event detection</a:t>
            </a:r>
          </a:p>
          <a:p>
            <a:pPr>
              <a:spcAft>
                <a:spcPts val="500"/>
              </a:spcAft>
              <a:defRPr sz="1600">
                <a:solidFill>
                  <a:srgbClr val="3C3C46"/>
                </a:solidFill>
              </a:defRPr>
            </a:pPr>
            <a:r>
              <a:rPr sz="1200" dirty="0"/>
              <a:t>    • Chen et al. (2021) - Applied SARIMA models with seasonal period</a:t>
            </a:r>
          </a:p>
          <a:p>
            <a:pPr>
              <a:spcAft>
                <a:spcPts val="500"/>
              </a:spcAft>
              <a:defRPr sz="1600">
                <a:solidFill>
                  <a:srgbClr val="3C3C46"/>
                </a:solidFill>
              </a:defRPr>
            </a:pPr>
            <a:r>
              <a:rPr sz="1200" dirty="0"/>
              <a:t>      s=7 for daily data, achieving MAPE of 18%; highlighted importance</a:t>
            </a:r>
          </a:p>
          <a:p>
            <a:pPr>
              <a:spcAft>
                <a:spcPts val="500"/>
              </a:spcAft>
              <a:defRPr sz="1600">
                <a:solidFill>
                  <a:srgbClr val="3C3C46"/>
                </a:solidFill>
              </a:defRPr>
            </a:pPr>
            <a:r>
              <a:rPr sz="1200" dirty="0"/>
              <a:t>      of proper differencing for stationarity</a:t>
            </a:r>
          </a:p>
          <a:p>
            <a:pPr>
              <a:spcAft>
                <a:spcPts val="500"/>
              </a:spcAft>
              <a:defRPr sz="1600">
                <a:solidFill>
                  <a:srgbClr val="3C3C46"/>
                </a:solidFill>
              </a:defRPr>
            </a:pPr>
            <a:r>
              <a:rPr sz="1200" dirty="0"/>
              <a:t>    • Hyndman &amp; </a:t>
            </a:r>
            <a:r>
              <a:rPr sz="1200" dirty="0" err="1"/>
              <a:t>Athanasopoulos</a:t>
            </a:r>
            <a:r>
              <a:rPr sz="1200" dirty="0"/>
              <a:t> (2021) - Gold standard forecasting text;</a:t>
            </a:r>
          </a:p>
          <a:p>
            <a:pPr>
              <a:spcAft>
                <a:spcPts val="500"/>
              </a:spcAft>
              <a:defRPr sz="1600">
                <a:solidFill>
                  <a:srgbClr val="3C3C46"/>
                </a:solidFill>
              </a:defRPr>
            </a:pPr>
            <a:r>
              <a:rPr sz="1200" dirty="0"/>
              <a:t>      prescribes ACF/PACF analysis for ARIMA order selection</a:t>
            </a:r>
          </a:p>
          <a:p>
            <a:pPr>
              <a:spcAft>
                <a:spcPts val="500"/>
              </a:spcAft>
              <a:defRPr sz="1600">
                <a:solidFill>
                  <a:srgbClr val="3C3C46"/>
                </a:solidFill>
              </a:defRPr>
            </a:pPr>
            <a:endParaRPr dirty="0"/>
          </a:p>
          <a:p>
            <a:pPr>
              <a:spcBef>
                <a:spcPts val="1200"/>
              </a:spcBef>
              <a:spcAft>
                <a:spcPts val="400"/>
              </a:spcAft>
              <a:defRPr sz="1800" b="1">
                <a:solidFill>
                  <a:srgbClr val="003366"/>
                </a:solidFill>
              </a:defRPr>
            </a:pPr>
            <a:r>
              <a:rPr sz="1400" dirty="0"/>
              <a:t>MACHINE LEARNING APPROACHES</a:t>
            </a:r>
          </a:p>
          <a:p>
            <a:pPr>
              <a:spcAft>
                <a:spcPts val="500"/>
              </a:spcAft>
              <a:defRPr sz="1600">
                <a:solidFill>
                  <a:srgbClr val="3C3C46"/>
                </a:solidFill>
              </a:defRPr>
            </a:pPr>
            <a:r>
              <a:rPr sz="1200" dirty="0"/>
              <a:t>    • </a:t>
            </a:r>
            <a:r>
              <a:rPr sz="1200" dirty="0" err="1"/>
              <a:t>Sathishkumar</a:t>
            </a:r>
            <a:r>
              <a:rPr sz="1200" dirty="0"/>
              <a:t> et al. (2020) - Benchmarked Random Forest, Gradient</a:t>
            </a:r>
          </a:p>
          <a:p>
            <a:pPr>
              <a:spcAft>
                <a:spcPts val="500"/>
              </a:spcAft>
              <a:defRPr sz="1600">
                <a:solidFill>
                  <a:srgbClr val="3C3C46"/>
                </a:solidFill>
              </a:defRPr>
            </a:pPr>
            <a:r>
              <a:rPr sz="1200" dirty="0"/>
              <a:t>      Boosting, </a:t>
            </a:r>
            <a:r>
              <a:rPr sz="1200" dirty="0" err="1"/>
              <a:t>XGBoost</a:t>
            </a:r>
            <a:r>
              <a:rPr sz="1200" dirty="0"/>
              <a:t> on bike sharing; </a:t>
            </a:r>
            <a:r>
              <a:rPr sz="1200" dirty="0" err="1"/>
              <a:t>XGBoost</a:t>
            </a:r>
            <a:r>
              <a:rPr sz="1200" dirty="0"/>
              <a:t> achieved best RMSE=45.2</a:t>
            </a:r>
          </a:p>
          <a:p>
            <a:pPr>
              <a:spcAft>
                <a:spcPts val="500"/>
              </a:spcAft>
              <a:defRPr sz="1600">
                <a:solidFill>
                  <a:srgbClr val="3C3C46"/>
                </a:solidFill>
              </a:defRPr>
            </a:pPr>
            <a:r>
              <a:rPr sz="1200" dirty="0"/>
              <a:t>      with 100 estimators and </a:t>
            </a:r>
            <a:r>
              <a:rPr sz="1200" dirty="0" err="1"/>
              <a:t>max_depth</a:t>
            </a:r>
            <a:r>
              <a:rPr sz="1200" dirty="0"/>
              <a:t>=6</a:t>
            </a:r>
          </a:p>
          <a:p>
            <a:pPr>
              <a:spcAft>
                <a:spcPts val="500"/>
              </a:spcAft>
              <a:defRPr sz="1600">
                <a:solidFill>
                  <a:srgbClr val="3C3C46"/>
                </a:solidFill>
              </a:defRPr>
            </a:pPr>
            <a:r>
              <a:rPr sz="1200" dirty="0"/>
              <a:t>    • Li et al. (2023) - LSTM with attention mechanism achieved 12%</a:t>
            </a:r>
          </a:p>
          <a:p>
            <a:pPr>
              <a:spcAft>
                <a:spcPts val="500"/>
              </a:spcAft>
              <a:defRPr sz="1600">
                <a:solidFill>
                  <a:srgbClr val="3C3C46"/>
                </a:solidFill>
              </a:defRPr>
            </a:pPr>
            <a:r>
              <a:rPr sz="1200" dirty="0"/>
              <a:t>      MAPE; showed recurrent networks capture long-term dependencies</a:t>
            </a:r>
          </a:p>
        </p:txBody>
      </p:sp>
      <p:sp>
        <p:nvSpPr>
          <p:cNvPr id="6" name="Rectangle 5"/>
          <p:cNvSpPr/>
          <p:nvPr/>
        </p:nvSpPr>
        <p:spPr>
          <a:xfrm>
            <a:off x="0" y="6355080"/>
            <a:ext cx="12191695" cy="50292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6428232"/>
            <a:ext cx="3657600" cy="365760"/>
          </a:xfrm>
          <a:prstGeom prst="rect">
            <a:avLst/>
          </a:prstGeom>
          <a:noFill/>
        </p:spPr>
        <p:txBody>
          <a:bodyPr wrap="none">
            <a:spAutoFit/>
          </a:bodyPr>
          <a:lstStyle/>
          <a:p>
            <a:pPr>
              <a:defRPr sz="1100">
                <a:solidFill>
                  <a:srgbClr val="FFFFFF"/>
                </a:solidFill>
              </a:defRPr>
            </a:pPr>
            <a:r>
              <a:t>Slide 3</a:t>
            </a:r>
          </a:p>
        </p:txBody>
      </p:sp>
      <p:sp>
        <p:nvSpPr>
          <p:cNvPr id="8" name="TextBox 7"/>
          <p:cNvSpPr txBox="1"/>
          <p:nvPr/>
        </p:nvSpPr>
        <p:spPr>
          <a:xfrm>
            <a:off x="7581214" y="6428232"/>
            <a:ext cx="4305986" cy="261610"/>
          </a:xfrm>
          <a:prstGeom prst="rect">
            <a:avLst/>
          </a:prstGeom>
          <a:noFill/>
        </p:spPr>
        <p:txBody>
          <a:bodyPr wrap="none">
            <a:spAutoFit/>
          </a:bodyPr>
          <a:lstStyle/>
          <a:p>
            <a:pPr algn="r">
              <a:defRPr sz="1100">
                <a:solidFill>
                  <a:srgbClr val="FFFFFF"/>
                </a:solidFill>
              </a:defRPr>
            </a:pPr>
            <a:r>
              <a:rPr lang="fi-FI" dirty="0"/>
              <a:t>Naga Venkata Sai Ram Charan Pullabhotla</a:t>
            </a:r>
            <a:r>
              <a:rPr dirty="0"/>
              <a:t>  |  University of Hertfordshire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457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058400" cy="731520"/>
          </a:xfrm>
          <a:prstGeom prst="rect">
            <a:avLst/>
          </a:prstGeom>
          <a:noFill/>
        </p:spPr>
        <p:txBody>
          <a:bodyPr wrap="none">
            <a:spAutoFit/>
          </a:bodyPr>
          <a:lstStyle/>
          <a:p>
            <a:pPr>
              <a:defRPr sz="3000" b="1">
                <a:solidFill>
                  <a:srgbClr val="FFFFFF"/>
                </a:solidFill>
              </a:defRPr>
            </a:pPr>
            <a:r>
              <a:t>Literature Review (2/2)</a:t>
            </a:r>
          </a:p>
        </p:txBody>
      </p:sp>
      <p:sp>
        <p:nvSpPr>
          <p:cNvPr id="5" name="TextBox 4"/>
          <p:cNvSpPr txBox="1"/>
          <p:nvPr/>
        </p:nvSpPr>
        <p:spPr>
          <a:xfrm>
            <a:off x="548640" y="1371600"/>
            <a:ext cx="11064240" cy="4183196"/>
          </a:xfrm>
          <a:prstGeom prst="rect">
            <a:avLst/>
          </a:prstGeom>
          <a:noFill/>
        </p:spPr>
        <p:txBody>
          <a:bodyPr wrap="square">
            <a:spAutoFit/>
          </a:bodyPr>
          <a:lstStyle/>
          <a:p>
            <a:pPr>
              <a:spcBef>
                <a:spcPts val="1200"/>
              </a:spcBef>
              <a:spcAft>
                <a:spcPts val="400"/>
              </a:spcAft>
              <a:defRPr sz="1800" b="1">
                <a:solidFill>
                  <a:srgbClr val="003366"/>
                </a:solidFill>
              </a:defRPr>
            </a:pPr>
            <a:r>
              <a:rPr sz="1400" dirty="0"/>
              <a:t>KEY FINDINGS FROM EXISTING LITERATURE</a:t>
            </a:r>
          </a:p>
          <a:p>
            <a:pPr>
              <a:spcAft>
                <a:spcPts val="500"/>
              </a:spcAft>
              <a:defRPr sz="1600">
                <a:solidFill>
                  <a:srgbClr val="3C3C46"/>
                </a:solidFill>
              </a:defRPr>
            </a:pPr>
            <a:r>
              <a:rPr sz="1200" dirty="0"/>
              <a:t>    • Hybrid approaches combining statistical time series structure with</a:t>
            </a:r>
          </a:p>
          <a:p>
            <a:pPr>
              <a:spcAft>
                <a:spcPts val="500"/>
              </a:spcAft>
              <a:defRPr sz="1600">
                <a:solidFill>
                  <a:srgbClr val="3C3C46"/>
                </a:solidFill>
              </a:defRPr>
            </a:pPr>
            <a:r>
              <a:rPr sz="1200" dirty="0"/>
              <a:t>      machine learning flexibility consistently outperform single models</a:t>
            </a:r>
          </a:p>
          <a:p>
            <a:pPr>
              <a:spcAft>
                <a:spcPts val="500"/>
              </a:spcAft>
              <a:defRPr sz="1600">
                <a:solidFill>
                  <a:srgbClr val="3C3C46"/>
                </a:solidFill>
              </a:defRPr>
            </a:pPr>
            <a:r>
              <a:rPr sz="1200" dirty="0"/>
              <a:t>    • Lag features (t-1, t-24, t-168 hours) are among strongest predictors</a:t>
            </a:r>
          </a:p>
          <a:p>
            <a:pPr>
              <a:spcAft>
                <a:spcPts val="500"/>
              </a:spcAft>
              <a:defRPr sz="1600">
                <a:solidFill>
                  <a:srgbClr val="3C3C46"/>
                </a:solidFill>
              </a:defRPr>
            </a:pPr>
            <a:r>
              <a:rPr sz="1200" dirty="0"/>
              <a:t>      because demand exhibits strong hour-to-hour autocorrelation</a:t>
            </a:r>
          </a:p>
          <a:p>
            <a:pPr>
              <a:spcAft>
                <a:spcPts val="500"/>
              </a:spcAft>
              <a:defRPr sz="1600">
                <a:solidFill>
                  <a:srgbClr val="3C3C46"/>
                </a:solidFill>
              </a:defRPr>
            </a:pPr>
            <a:r>
              <a:rPr sz="1200" dirty="0"/>
              <a:t>    • Temperature shows strong positive correlation (r=0.4) while humidity</a:t>
            </a:r>
          </a:p>
          <a:p>
            <a:pPr>
              <a:spcAft>
                <a:spcPts val="500"/>
              </a:spcAft>
              <a:defRPr sz="1600">
                <a:solidFill>
                  <a:srgbClr val="3C3C46"/>
                </a:solidFill>
              </a:defRPr>
            </a:pPr>
            <a:r>
              <a:rPr sz="1200" dirty="0"/>
              <a:t>      has negative correlation (r=-0.3) with bike rental demand</a:t>
            </a:r>
          </a:p>
          <a:p>
            <a:pPr>
              <a:spcAft>
                <a:spcPts val="500"/>
              </a:spcAft>
              <a:defRPr sz="1600">
                <a:solidFill>
                  <a:srgbClr val="3C3C46"/>
                </a:solidFill>
              </a:defRPr>
            </a:pPr>
            <a:r>
              <a:rPr sz="1200" dirty="0"/>
              <a:t>    • Hourly patterns show bimodal distribution: 8AM &amp; 5-6PM rush peaks</a:t>
            </a:r>
          </a:p>
          <a:p>
            <a:pPr>
              <a:spcBef>
                <a:spcPts val="1200"/>
              </a:spcBef>
              <a:spcAft>
                <a:spcPts val="400"/>
              </a:spcAft>
              <a:defRPr sz="1800" b="1">
                <a:solidFill>
                  <a:srgbClr val="003366"/>
                </a:solidFill>
              </a:defRPr>
            </a:pPr>
            <a:r>
              <a:rPr sz="1400" dirty="0"/>
              <a:t>IDENTIFIED RESEARCH GAPS</a:t>
            </a:r>
          </a:p>
          <a:p>
            <a:pPr>
              <a:spcAft>
                <a:spcPts val="500"/>
              </a:spcAft>
              <a:defRPr sz="1600">
                <a:solidFill>
                  <a:srgbClr val="3C3C46"/>
                </a:solidFill>
              </a:defRPr>
            </a:pPr>
            <a:r>
              <a:rPr dirty="0"/>
              <a:t>    </a:t>
            </a:r>
            <a:r>
              <a:rPr sz="1200" dirty="0"/>
              <a:t>• Limited studies compare statistical vs ML on same hourly dataset</a:t>
            </a:r>
          </a:p>
          <a:p>
            <a:pPr>
              <a:spcAft>
                <a:spcPts val="500"/>
              </a:spcAft>
              <a:defRPr sz="1600">
                <a:solidFill>
                  <a:srgbClr val="3C3C46"/>
                </a:solidFill>
              </a:defRPr>
            </a:pPr>
            <a:r>
              <a:rPr sz="1200" dirty="0"/>
              <a:t>    • Feature engineering (cyclical encodings, interactions) underexplored</a:t>
            </a:r>
          </a:p>
          <a:p>
            <a:pPr>
              <a:spcAft>
                <a:spcPts val="500"/>
              </a:spcAft>
              <a:defRPr sz="1600">
                <a:solidFill>
                  <a:srgbClr val="3C3C46"/>
                </a:solidFill>
              </a:defRPr>
            </a:pPr>
            <a:r>
              <a:rPr sz="1200" dirty="0"/>
              <a:t>    • Hyperparameter tuning often skipped in published benchmarks</a:t>
            </a:r>
          </a:p>
          <a:p>
            <a:pPr>
              <a:spcBef>
                <a:spcPts val="1200"/>
              </a:spcBef>
              <a:spcAft>
                <a:spcPts val="400"/>
              </a:spcAft>
              <a:defRPr sz="1800" b="1">
                <a:solidFill>
                  <a:srgbClr val="003366"/>
                </a:solidFill>
              </a:defRPr>
            </a:pPr>
            <a:r>
              <a:rPr sz="1400"/>
              <a:t>THIS </a:t>
            </a:r>
            <a:r>
              <a:rPr sz="1400" dirty="0"/>
              <a:t>PROJECT'S CONTRIBUTION</a:t>
            </a:r>
          </a:p>
          <a:p>
            <a:pPr>
              <a:spcAft>
                <a:spcPts val="500"/>
              </a:spcAft>
              <a:defRPr sz="1600">
                <a:solidFill>
                  <a:srgbClr val="3C3C46"/>
                </a:solidFill>
              </a:defRPr>
            </a:pPr>
            <a:r>
              <a:rPr sz="1200" dirty="0"/>
              <a:t>    • Systematic 3-model comparison with consistent tuning methodology</a:t>
            </a:r>
          </a:p>
          <a:p>
            <a:pPr>
              <a:spcAft>
                <a:spcPts val="500"/>
              </a:spcAft>
              <a:defRPr sz="1600">
                <a:solidFill>
                  <a:srgbClr val="3C3C46"/>
                </a:solidFill>
              </a:defRPr>
            </a:pPr>
            <a:r>
              <a:rPr sz="1200" dirty="0"/>
              <a:t>    • Novel cyclical hour encoding + weather interaction features</a:t>
            </a:r>
          </a:p>
        </p:txBody>
      </p:sp>
      <p:sp>
        <p:nvSpPr>
          <p:cNvPr id="6" name="Rectangle 5"/>
          <p:cNvSpPr/>
          <p:nvPr/>
        </p:nvSpPr>
        <p:spPr>
          <a:xfrm>
            <a:off x="0" y="6355080"/>
            <a:ext cx="12191695" cy="50292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6428232"/>
            <a:ext cx="3657600" cy="365760"/>
          </a:xfrm>
          <a:prstGeom prst="rect">
            <a:avLst/>
          </a:prstGeom>
          <a:noFill/>
        </p:spPr>
        <p:txBody>
          <a:bodyPr wrap="none">
            <a:spAutoFit/>
          </a:bodyPr>
          <a:lstStyle/>
          <a:p>
            <a:pPr>
              <a:defRPr sz="1100">
                <a:solidFill>
                  <a:srgbClr val="FFFFFF"/>
                </a:solidFill>
              </a:defRPr>
            </a:pPr>
            <a:r>
              <a:t>Slide 4</a:t>
            </a:r>
          </a:p>
        </p:txBody>
      </p:sp>
      <p:sp>
        <p:nvSpPr>
          <p:cNvPr id="8" name="TextBox 7"/>
          <p:cNvSpPr txBox="1"/>
          <p:nvPr/>
        </p:nvSpPr>
        <p:spPr>
          <a:xfrm>
            <a:off x="7581214" y="6428232"/>
            <a:ext cx="4305986" cy="261610"/>
          </a:xfrm>
          <a:prstGeom prst="rect">
            <a:avLst/>
          </a:prstGeom>
          <a:noFill/>
        </p:spPr>
        <p:txBody>
          <a:bodyPr wrap="none">
            <a:spAutoFit/>
          </a:bodyPr>
          <a:lstStyle/>
          <a:p>
            <a:pPr algn="r">
              <a:defRPr sz="1100">
                <a:solidFill>
                  <a:srgbClr val="FFFFFF"/>
                </a:solidFill>
              </a:defRPr>
            </a:pPr>
            <a:r>
              <a:rPr lang="fi-FI" dirty="0"/>
              <a:t>Naga Venkata Sai Ram Charan Pullabhotla</a:t>
            </a:r>
            <a:r>
              <a:rPr dirty="0"/>
              <a:t>  |  University of Hertfordshire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457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058400" cy="731520"/>
          </a:xfrm>
          <a:prstGeom prst="rect">
            <a:avLst/>
          </a:prstGeom>
          <a:noFill/>
        </p:spPr>
        <p:txBody>
          <a:bodyPr wrap="none">
            <a:spAutoFit/>
          </a:bodyPr>
          <a:lstStyle/>
          <a:p>
            <a:pPr>
              <a:defRPr sz="3000" b="1">
                <a:solidFill>
                  <a:srgbClr val="FFFFFF"/>
                </a:solidFill>
              </a:defRPr>
            </a:pPr>
            <a:r>
              <a:t>Proposed Approach</a:t>
            </a:r>
          </a:p>
        </p:txBody>
      </p:sp>
      <p:sp>
        <p:nvSpPr>
          <p:cNvPr id="5" name="TextBox 4"/>
          <p:cNvSpPr txBox="1"/>
          <p:nvPr/>
        </p:nvSpPr>
        <p:spPr>
          <a:xfrm>
            <a:off x="548640" y="1371600"/>
            <a:ext cx="11064240" cy="4555093"/>
          </a:xfrm>
          <a:prstGeom prst="rect">
            <a:avLst/>
          </a:prstGeom>
          <a:noFill/>
        </p:spPr>
        <p:txBody>
          <a:bodyPr wrap="square">
            <a:spAutoFit/>
          </a:bodyPr>
          <a:lstStyle/>
          <a:p>
            <a:pPr>
              <a:spcBef>
                <a:spcPts val="1200"/>
              </a:spcBef>
              <a:spcAft>
                <a:spcPts val="400"/>
              </a:spcAft>
              <a:defRPr sz="1800" b="1">
                <a:solidFill>
                  <a:srgbClr val="003366"/>
                </a:solidFill>
              </a:defRPr>
            </a:pPr>
            <a:r>
              <a:rPr sz="1400" dirty="0"/>
              <a:t>METHODOLOGY OVERVIEW</a:t>
            </a:r>
          </a:p>
          <a:p>
            <a:pPr>
              <a:spcAft>
                <a:spcPts val="500"/>
              </a:spcAft>
              <a:defRPr sz="1600">
                <a:solidFill>
                  <a:srgbClr val="3C3C46"/>
                </a:solidFill>
              </a:defRPr>
            </a:pPr>
            <a:r>
              <a:rPr sz="1200" dirty="0"/>
              <a:t>    • Compare 3 complementary forecasting approaches: SARIMA (pure time</a:t>
            </a:r>
          </a:p>
          <a:p>
            <a:pPr>
              <a:spcAft>
                <a:spcPts val="500"/>
              </a:spcAft>
              <a:defRPr sz="1600">
                <a:solidFill>
                  <a:srgbClr val="3C3C46"/>
                </a:solidFill>
              </a:defRPr>
            </a:pPr>
            <a:r>
              <a:rPr sz="1200" dirty="0"/>
              <a:t>      series), SARIMAX (time series + external features), </a:t>
            </a:r>
            <a:r>
              <a:rPr sz="1200" dirty="0" err="1"/>
              <a:t>XGBoost</a:t>
            </a:r>
            <a:r>
              <a:rPr sz="1200" dirty="0"/>
              <a:t> (ML)</a:t>
            </a:r>
          </a:p>
          <a:p>
            <a:pPr>
              <a:spcAft>
                <a:spcPts val="500"/>
              </a:spcAft>
              <a:defRPr sz="1600">
                <a:solidFill>
                  <a:srgbClr val="3C3C46"/>
                </a:solidFill>
              </a:defRPr>
            </a:pPr>
            <a:r>
              <a:rPr sz="1200" dirty="0"/>
              <a:t>    • Apply systematic hyperparameter tuning using ACF/PACF-informed grid</a:t>
            </a:r>
          </a:p>
          <a:p>
            <a:pPr>
              <a:spcAft>
                <a:spcPts val="500"/>
              </a:spcAft>
              <a:defRPr sz="1600">
                <a:solidFill>
                  <a:srgbClr val="3C3C46"/>
                </a:solidFill>
              </a:defRPr>
            </a:pPr>
            <a:r>
              <a:rPr sz="1200" dirty="0"/>
              <a:t>      search for SARIMA and </a:t>
            </a:r>
            <a:r>
              <a:rPr sz="1200" dirty="0" err="1"/>
              <a:t>RandomizedSearchCV</a:t>
            </a:r>
            <a:r>
              <a:rPr sz="1200" dirty="0"/>
              <a:t> for </a:t>
            </a:r>
            <a:r>
              <a:rPr sz="1200" dirty="0" err="1"/>
              <a:t>XGBoost</a:t>
            </a:r>
            <a:endParaRPr sz="1200" dirty="0"/>
          </a:p>
          <a:p>
            <a:pPr>
              <a:spcAft>
                <a:spcPts val="500"/>
              </a:spcAft>
              <a:defRPr sz="1600">
                <a:solidFill>
                  <a:srgbClr val="3C3C46"/>
                </a:solidFill>
              </a:defRPr>
            </a:pPr>
            <a:r>
              <a:rPr sz="1200" dirty="0"/>
              <a:t>    • Evaluate using MAE, RMSE, MAPE on held-out temporal test set (10%)</a:t>
            </a:r>
          </a:p>
          <a:p>
            <a:pPr>
              <a:spcBef>
                <a:spcPts val="1200"/>
              </a:spcBef>
              <a:spcAft>
                <a:spcPts val="400"/>
              </a:spcAft>
              <a:defRPr sz="1800" b="1">
                <a:solidFill>
                  <a:srgbClr val="003366"/>
                </a:solidFill>
              </a:defRPr>
            </a:pPr>
            <a:r>
              <a:rPr sz="1400" dirty="0"/>
              <a:t>FEATURE ENGINEERING STRATEGY</a:t>
            </a:r>
          </a:p>
          <a:p>
            <a:pPr>
              <a:spcAft>
                <a:spcPts val="500"/>
              </a:spcAft>
              <a:defRPr sz="1600">
                <a:solidFill>
                  <a:srgbClr val="3C3C46"/>
                </a:solidFill>
              </a:defRPr>
            </a:pPr>
            <a:r>
              <a:rPr dirty="0"/>
              <a:t>    </a:t>
            </a:r>
            <a:r>
              <a:rPr sz="1200" dirty="0"/>
              <a:t>• Cyclical hour encoding: sin(2πh/24), cos(2πh/24) to preserve</a:t>
            </a:r>
          </a:p>
          <a:p>
            <a:pPr>
              <a:spcAft>
                <a:spcPts val="500"/>
              </a:spcAft>
              <a:defRPr sz="1600">
                <a:solidFill>
                  <a:srgbClr val="3C3C46"/>
                </a:solidFill>
              </a:defRPr>
            </a:pPr>
            <a:r>
              <a:rPr sz="1200" dirty="0"/>
              <a:t>      continuity between hour 23 and hour 0 (midnight wraps)</a:t>
            </a:r>
          </a:p>
          <a:p>
            <a:pPr>
              <a:spcAft>
                <a:spcPts val="500"/>
              </a:spcAft>
              <a:defRPr sz="1600">
                <a:solidFill>
                  <a:srgbClr val="3C3C46"/>
                </a:solidFill>
              </a:defRPr>
            </a:pPr>
            <a:r>
              <a:rPr sz="1200" dirty="0"/>
              <a:t>    • Non-linear weather: temp² captures inverted-U demand pattern;</a:t>
            </a:r>
          </a:p>
          <a:p>
            <a:pPr>
              <a:spcAft>
                <a:spcPts val="500"/>
              </a:spcAft>
              <a:defRPr sz="1600">
                <a:solidFill>
                  <a:srgbClr val="3C3C46"/>
                </a:solidFill>
              </a:defRPr>
            </a:pPr>
            <a:r>
              <a:rPr sz="1200" dirty="0"/>
              <a:t>      </a:t>
            </a:r>
            <a:r>
              <a:rPr sz="1200" dirty="0" err="1"/>
              <a:t>temp×humidity</a:t>
            </a:r>
            <a:r>
              <a:rPr sz="1200" dirty="0"/>
              <a:t> interaction models perceived discomfort</a:t>
            </a:r>
          </a:p>
          <a:p>
            <a:pPr>
              <a:spcAft>
                <a:spcPts val="500"/>
              </a:spcAft>
              <a:defRPr sz="1600">
                <a:solidFill>
                  <a:srgbClr val="3C3C46"/>
                </a:solidFill>
              </a:defRPr>
            </a:pPr>
            <a:r>
              <a:rPr sz="1200" dirty="0"/>
              <a:t>    • Lag features: 1h, 24h, 48h, 168h (1 week) provide autoregressive</a:t>
            </a:r>
          </a:p>
          <a:p>
            <a:pPr>
              <a:spcAft>
                <a:spcPts val="500"/>
              </a:spcAft>
              <a:defRPr sz="1600">
                <a:solidFill>
                  <a:srgbClr val="3C3C46"/>
                </a:solidFill>
              </a:defRPr>
            </a:pPr>
            <a:r>
              <a:rPr sz="1200" dirty="0"/>
              <a:t>      memory for ML models; rolling_24h_mean smooths daily patterns</a:t>
            </a:r>
          </a:p>
          <a:p>
            <a:pPr>
              <a:spcBef>
                <a:spcPts val="1200"/>
              </a:spcBef>
              <a:spcAft>
                <a:spcPts val="400"/>
              </a:spcAft>
              <a:defRPr sz="1800" b="1">
                <a:solidFill>
                  <a:srgbClr val="003366"/>
                </a:solidFill>
              </a:defRPr>
            </a:pPr>
            <a:r>
              <a:rPr sz="1400" dirty="0"/>
              <a:t>KEY DIFFERENCES FROM PRIOR WORK</a:t>
            </a:r>
          </a:p>
          <a:p>
            <a:pPr>
              <a:spcAft>
                <a:spcPts val="500"/>
              </a:spcAft>
              <a:defRPr sz="1600">
                <a:solidFill>
                  <a:srgbClr val="3C3C46"/>
                </a:solidFill>
              </a:defRPr>
            </a:pPr>
            <a:r>
              <a:rPr sz="1200" dirty="0"/>
              <a:t>    • Manual grid search (not </a:t>
            </a:r>
            <a:r>
              <a:rPr sz="1200" dirty="0" err="1"/>
              <a:t>auto_arima</a:t>
            </a:r>
            <a:r>
              <a:rPr sz="1200" dirty="0"/>
              <a:t>) for faster execution</a:t>
            </a:r>
          </a:p>
          <a:p>
            <a:pPr>
              <a:spcAft>
                <a:spcPts val="500"/>
              </a:spcAft>
              <a:defRPr sz="1600">
                <a:solidFill>
                  <a:srgbClr val="3C3C46"/>
                </a:solidFill>
              </a:defRPr>
            </a:pPr>
            <a:r>
              <a:rPr sz="1200" dirty="0"/>
              <a:t>    • Hourly granularity (not daily) for real-time operations</a:t>
            </a:r>
          </a:p>
        </p:txBody>
      </p:sp>
      <p:sp>
        <p:nvSpPr>
          <p:cNvPr id="6" name="Rectangle 5"/>
          <p:cNvSpPr/>
          <p:nvPr/>
        </p:nvSpPr>
        <p:spPr>
          <a:xfrm>
            <a:off x="0" y="6355080"/>
            <a:ext cx="12191695" cy="50292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6428232"/>
            <a:ext cx="3657600" cy="365760"/>
          </a:xfrm>
          <a:prstGeom prst="rect">
            <a:avLst/>
          </a:prstGeom>
          <a:noFill/>
        </p:spPr>
        <p:txBody>
          <a:bodyPr wrap="none">
            <a:spAutoFit/>
          </a:bodyPr>
          <a:lstStyle/>
          <a:p>
            <a:pPr>
              <a:defRPr sz="1100">
                <a:solidFill>
                  <a:srgbClr val="FFFFFF"/>
                </a:solidFill>
              </a:defRPr>
            </a:pPr>
            <a:r>
              <a:t>Slide 5</a:t>
            </a:r>
          </a:p>
        </p:txBody>
      </p:sp>
      <p:sp>
        <p:nvSpPr>
          <p:cNvPr id="8" name="TextBox 7"/>
          <p:cNvSpPr txBox="1"/>
          <p:nvPr/>
        </p:nvSpPr>
        <p:spPr>
          <a:xfrm>
            <a:off x="7581214" y="6428232"/>
            <a:ext cx="4305986" cy="261610"/>
          </a:xfrm>
          <a:prstGeom prst="rect">
            <a:avLst/>
          </a:prstGeom>
          <a:noFill/>
        </p:spPr>
        <p:txBody>
          <a:bodyPr wrap="none">
            <a:spAutoFit/>
          </a:bodyPr>
          <a:lstStyle/>
          <a:p>
            <a:pPr algn="r">
              <a:defRPr sz="1100">
                <a:solidFill>
                  <a:srgbClr val="FFFFFF"/>
                </a:solidFill>
              </a:defRPr>
            </a:pPr>
            <a:r>
              <a:rPr lang="fi-FI" dirty="0"/>
              <a:t>Naga Venkata Sai Ram Charan Pullabhotla</a:t>
            </a:r>
            <a:r>
              <a:rPr dirty="0"/>
              <a:t>  |  University of Hertfordshire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457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058400" cy="731520"/>
          </a:xfrm>
          <a:prstGeom prst="rect">
            <a:avLst/>
          </a:prstGeom>
          <a:noFill/>
        </p:spPr>
        <p:txBody>
          <a:bodyPr wrap="none">
            <a:spAutoFit/>
          </a:bodyPr>
          <a:lstStyle/>
          <a:p>
            <a:pPr>
              <a:defRPr sz="3000" b="1">
                <a:solidFill>
                  <a:srgbClr val="FFFFFF"/>
                </a:solidFill>
              </a:defRPr>
            </a:pPr>
            <a:r>
              <a:t>Dataset Description</a:t>
            </a:r>
          </a:p>
        </p:txBody>
      </p:sp>
      <p:sp>
        <p:nvSpPr>
          <p:cNvPr id="5" name="TextBox 4"/>
          <p:cNvSpPr txBox="1"/>
          <p:nvPr/>
        </p:nvSpPr>
        <p:spPr>
          <a:xfrm>
            <a:off x="548640" y="1371600"/>
            <a:ext cx="11064240" cy="4183196"/>
          </a:xfrm>
          <a:prstGeom prst="rect">
            <a:avLst/>
          </a:prstGeom>
          <a:noFill/>
        </p:spPr>
        <p:txBody>
          <a:bodyPr wrap="square">
            <a:spAutoFit/>
          </a:bodyPr>
          <a:lstStyle/>
          <a:p>
            <a:pPr>
              <a:spcBef>
                <a:spcPts val="1200"/>
              </a:spcBef>
              <a:spcAft>
                <a:spcPts val="400"/>
              </a:spcAft>
              <a:defRPr sz="1800" b="1">
                <a:solidFill>
                  <a:srgbClr val="003366"/>
                </a:solidFill>
              </a:defRPr>
            </a:pPr>
            <a:r>
              <a:rPr sz="1400" dirty="0"/>
              <a:t>UCI BIKE SHARING DATASET — SOURCE &amp; SCOPE</a:t>
            </a:r>
          </a:p>
          <a:p>
            <a:pPr>
              <a:spcAft>
                <a:spcPts val="500"/>
              </a:spcAft>
              <a:defRPr sz="1600">
                <a:solidFill>
                  <a:srgbClr val="3C3C46"/>
                </a:solidFill>
              </a:defRPr>
            </a:pPr>
            <a:r>
              <a:rPr sz="1200" dirty="0"/>
              <a:t>    • Source: Capital Bikeshare system, Washington D.C., USA</a:t>
            </a:r>
          </a:p>
          <a:p>
            <a:pPr>
              <a:spcAft>
                <a:spcPts val="500"/>
              </a:spcAft>
              <a:defRPr sz="1600">
                <a:solidFill>
                  <a:srgbClr val="3C3C46"/>
                </a:solidFill>
              </a:defRPr>
            </a:pPr>
            <a:r>
              <a:rPr sz="1200" dirty="0"/>
              <a:t>    • Time coverage: January 1, 2011 – December 31, 2012 (2 full years)</a:t>
            </a:r>
          </a:p>
          <a:p>
            <a:pPr>
              <a:spcAft>
                <a:spcPts val="500"/>
              </a:spcAft>
              <a:defRPr sz="1600">
                <a:solidFill>
                  <a:srgbClr val="3C3C46"/>
                </a:solidFill>
              </a:defRPr>
            </a:pPr>
            <a:r>
              <a:rPr sz="1200" dirty="0"/>
              <a:t>    • Temporal granularity: Hourly aggregated rental counts</a:t>
            </a:r>
          </a:p>
          <a:p>
            <a:pPr>
              <a:spcAft>
                <a:spcPts val="500"/>
              </a:spcAft>
              <a:defRPr sz="1600">
                <a:solidFill>
                  <a:srgbClr val="3C3C46"/>
                </a:solidFill>
              </a:defRPr>
            </a:pPr>
            <a:r>
              <a:rPr sz="1200" dirty="0"/>
              <a:t>    • Total observations: 17,379 hourly records (730 days × 24 hours)</a:t>
            </a:r>
          </a:p>
          <a:p>
            <a:pPr>
              <a:spcBef>
                <a:spcPts val="1200"/>
              </a:spcBef>
              <a:spcAft>
                <a:spcPts val="400"/>
              </a:spcAft>
              <a:defRPr sz="1800" b="1">
                <a:solidFill>
                  <a:srgbClr val="003366"/>
                </a:solidFill>
              </a:defRPr>
            </a:pPr>
            <a:r>
              <a:rPr sz="1400" dirty="0"/>
              <a:t>FEATURE CATEGORIES (16 COLUMNS TOTAL)</a:t>
            </a:r>
          </a:p>
          <a:p>
            <a:pPr>
              <a:spcAft>
                <a:spcPts val="500"/>
              </a:spcAft>
              <a:defRPr sz="1600">
                <a:solidFill>
                  <a:srgbClr val="3C3C46"/>
                </a:solidFill>
              </a:defRPr>
            </a:pPr>
            <a:r>
              <a:rPr sz="1200" dirty="0"/>
              <a:t>    • Temporal: </a:t>
            </a:r>
            <a:r>
              <a:rPr sz="1200" dirty="0" err="1"/>
              <a:t>dteday</a:t>
            </a:r>
            <a:r>
              <a:rPr sz="1200" dirty="0"/>
              <a:t> (date), </a:t>
            </a:r>
            <a:r>
              <a:rPr sz="1200" dirty="0" err="1"/>
              <a:t>hr</a:t>
            </a:r>
            <a:r>
              <a:rPr sz="1200" dirty="0"/>
              <a:t> (hour 0-23), weekday, </a:t>
            </a:r>
            <a:r>
              <a:rPr sz="1200" dirty="0" err="1"/>
              <a:t>mn</a:t>
            </a:r>
            <a:r>
              <a:rPr sz="1200" dirty="0"/>
              <a:t> (month), yr</a:t>
            </a:r>
          </a:p>
          <a:p>
            <a:pPr>
              <a:spcAft>
                <a:spcPts val="500"/>
              </a:spcAft>
              <a:defRPr sz="1600">
                <a:solidFill>
                  <a:srgbClr val="3C3C46"/>
                </a:solidFill>
              </a:defRPr>
            </a:pPr>
            <a:r>
              <a:rPr sz="1200" dirty="0"/>
              <a:t>    • Calendar: season (1-4), holiday (binary), </a:t>
            </a:r>
            <a:r>
              <a:rPr sz="1200" dirty="0" err="1"/>
              <a:t>workingday</a:t>
            </a:r>
            <a:r>
              <a:rPr sz="1200" dirty="0"/>
              <a:t> (binary)</a:t>
            </a:r>
          </a:p>
          <a:p>
            <a:pPr>
              <a:spcAft>
                <a:spcPts val="500"/>
              </a:spcAft>
              <a:defRPr sz="1600">
                <a:solidFill>
                  <a:srgbClr val="3C3C46"/>
                </a:solidFill>
              </a:defRPr>
            </a:pPr>
            <a:r>
              <a:rPr sz="1200" dirty="0"/>
              <a:t>    • Weather: </a:t>
            </a:r>
            <a:r>
              <a:rPr sz="1200" dirty="0" err="1"/>
              <a:t>weathersit</a:t>
            </a:r>
            <a:r>
              <a:rPr sz="1200" dirty="0"/>
              <a:t> (1-4 scale: </a:t>
            </a:r>
            <a:r>
              <a:rPr sz="1200" dirty="0" err="1"/>
              <a:t>clear→heavy</a:t>
            </a:r>
            <a:r>
              <a:rPr sz="1200" dirty="0"/>
              <a:t> rain), temp (normalized</a:t>
            </a:r>
          </a:p>
          <a:p>
            <a:pPr>
              <a:spcAft>
                <a:spcPts val="500"/>
              </a:spcAft>
              <a:defRPr sz="1600">
                <a:solidFill>
                  <a:srgbClr val="3C3C46"/>
                </a:solidFill>
              </a:defRPr>
            </a:pPr>
            <a:r>
              <a:rPr sz="1200" dirty="0"/>
              <a:t>      0-41°C), </a:t>
            </a:r>
            <a:r>
              <a:rPr sz="1200" dirty="0" err="1"/>
              <a:t>atemp</a:t>
            </a:r>
            <a:r>
              <a:rPr sz="1200" dirty="0"/>
              <a:t> (feels-like), hum (humidity %), windspeed (norm)</a:t>
            </a:r>
          </a:p>
          <a:p>
            <a:pPr>
              <a:spcAft>
                <a:spcPts val="500"/>
              </a:spcAft>
              <a:defRPr sz="1600">
                <a:solidFill>
                  <a:srgbClr val="3C3C46"/>
                </a:solidFill>
              </a:defRPr>
            </a:pPr>
            <a:r>
              <a:rPr sz="1200" dirty="0"/>
              <a:t>    • Target: </a:t>
            </a:r>
            <a:r>
              <a:rPr sz="1200" dirty="0" err="1"/>
              <a:t>cnt</a:t>
            </a:r>
            <a:r>
              <a:rPr sz="1200" dirty="0"/>
              <a:t>=</a:t>
            </a:r>
            <a:r>
              <a:rPr sz="1200" dirty="0" err="1"/>
              <a:t>casual+registered</a:t>
            </a:r>
            <a:r>
              <a:rPr sz="1200" dirty="0"/>
              <a:t> (total hourly bike rentals)</a:t>
            </a:r>
          </a:p>
          <a:p>
            <a:pPr>
              <a:spcBef>
                <a:spcPts val="1200"/>
              </a:spcBef>
              <a:spcAft>
                <a:spcPts val="400"/>
              </a:spcAft>
              <a:defRPr sz="1800" b="1">
                <a:solidFill>
                  <a:srgbClr val="003366"/>
                </a:solidFill>
              </a:defRPr>
            </a:pPr>
            <a:r>
              <a:rPr sz="1400" dirty="0"/>
              <a:t>DATA QUALITY &amp; ACCESS</a:t>
            </a:r>
          </a:p>
          <a:p>
            <a:pPr>
              <a:spcAft>
                <a:spcPts val="500"/>
              </a:spcAft>
              <a:defRPr sz="1600">
                <a:solidFill>
                  <a:srgbClr val="3C3C46"/>
                </a:solidFill>
              </a:defRPr>
            </a:pPr>
            <a:r>
              <a:rPr dirty="0"/>
              <a:t>    </a:t>
            </a:r>
            <a:r>
              <a:rPr sz="1200" dirty="0"/>
              <a:t>• Complete data (no missing hourly records)</a:t>
            </a:r>
          </a:p>
          <a:p>
            <a:pPr>
              <a:spcAft>
                <a:spcPts val="500"/>
              </a:spcAft>
              <a:defRPr sz="1600">
                <a:solidFill>
                  <a:srgbClr val="3C3C46"/>
                </a:solidFill>
              </a:defRPr>
            </a:pPr>
            <a:r>
              <a:rPr sz="1200" dirty="0"/>
              <a:t>    • Publicly available: UCI ML Repository (Dua &amp; Graff, 2019)</a:t>
            </a:r>
          </a:p>
          <a:p>
            <a:pPr>
              <a:spcAft>
                <a:spcPts val="500"/>
              </a:spcAft>
              <a:defRPr sz="1600">
                <a:solidFill>
                  <a:srgbClr val="3C3C46"/>
                </a:solidFill>
              </a:defRPr>
            </a:pPr>
            <a:r>
              <a:rPr sz="1200" dirty="0"/>
              <a:t>    • File: hour.csv (~1 MB), well-documented with README</a:t>
            </a:r>
          </a:p>
        </p:txBody>
      </p:sp>
      <p:sp>
        <p:nvSpPr>
          <p:cNvPr id="6" name="Rectangle 5"/>
          <p:cNvSpPr/>
          <p:nvPr/>
        </p:nvSpPr>
        <p:spPr>
          <a:xfrm>
            <a:off x="0" y="6355080"/>
            <a:ext cx="12191695" cy="50292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6428232"/>
            <a:ext cx="3657600" cy="365760"/>
          </a:xfrm>
          <a:prstGeom prst="rect">
            <a:avLst/>
          </a:prstGeom>
          <a:noFill/>
        </p:spPr>
        <p:txBody>
          <a:bodyPr wrap="none">
            <a:spAutoFit/>
          </a:bodyPr>
          <a:lstStyle/>
          <a:p>
            <a:pPr>
              <a:defRPr sz="1100">
                <a:solidFill>
                  <a:srgbClr val="FFFFFF"/>
                </a:solidFill>
              </a:defRPr>
            </a:pPr>
            <a:r>
              <a:t>Slide 6</a:t>
            </a:r>
          </a:p>
        </p:txBody>
      </p:sp>
      <p:sp>
        <p:nvSpPr>
          <p:cNvPr id="8" name="TextBox 7"/>
          <p:cNvSpPr txBox="1"/>
          <p:nvPr/>
        </p:nvSpPr>
        <p:spPr>
          <a:xfrm>
            <a:off x="7581214" y="6428232"/>
            <a:ext cx="4305986" cy="261610"/>
          </a:xfrm>
          <a:prstGeom prst="rect">
            <a:avLst/>
          </a:prstGeom>
          <a:noFill/>
        </p:spPr>
        <p:txBody>
          <a:bodyPr wrap="none">
            <a:spAutoFit/>
          </a:bodyPr>
          <a:lstStyle/>
          <a:p>
            <a:pPr algn="r">
              <a:defRPr sz="1100">
                <a:solidFill>
                  <a:srgbClr val="FFFFFF"/>
                </a:solidFill>
              </a:defRPr>
            </a:pPr>
            <a:r>
              <a:rPr lang="fi-FI" dirty="0"/>
              <a:t>Naga Venkata Sai Ram Charan Pullabhotla</a:t>
            </a:r>
            <a:r>
              <a:rPr dirty="0"/>
              <a:t>  |  University of Hertfordshire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457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058400" cy="731520"/>
          </a:xfrm>
          <a:prstGeom prst="rect">
            <a:avLst/>
          </a:prstGeom>
          <a:noFill/>
        </p:spPr>
        <p:txBody>
          <a:bodyPr wrap="none">
            <a:spAutoFit/>
          </a:bodyPr>
          <a:lstStyle/>
          <a:p>
            <a:pPr>
              <a:defRPr sz="3000" b="1">
                <a:solidFill>
                  <a:srgbClr val="FFFFFF"/>
                </a:solidFill>
              </a:defRPr>
            </a:pPr>
            <a:r>
              <a:t>Ethical Considerations</a:t>
            </a:r>
          </a:p>
        </p:txBody>
      </p:sp>
      <p:sp>
        <p:nvSpPr>
          <p:cNvPr id="5" name="TextBox 4"/>
          <p:cNvSpPr txBox="1"/>
          <p:nvPr/>
        </p:nvSpPr>
        <p:spPr>
          <a:xfrm>
            <a:off x="548640" y="1371600"/>
            <a:ext cx="11064240" cy="4370427"/>
          </a:xfrm>
          <a:prstGeom prst="rect">
            <a:avLst/>
          </a:prstGeom>
          <a:noFill/>
        </p:spPr>
        <p:txBody>
          <a:bodyPr wrap="square">
            <a:spAutoFit/>
          </a:bodyPr>
          <a:lstStyle/>
          <a:p>
            <a:pPr>
              <a:spcBef>
                <a:spcPts val="1200"/>
              </a:spcBef>
              <a:spcAft>
                <a:spcPts val="400"/>
              </a:spcAft>
              <a:defRPr sz="1800" b="1">
                <a:solidFill>
                  <a:srgbClr val="003366"/>
                </a:solidFill>
              </a:defRPr>
            </a:pPr>
            <a:r>
              <a:rPr sz="1400" dirty="0"/>
              <a:t>DATA PRIVACY &amp; ANONYMIZATION</a:t>
            </a:r>
          </a:p>
          <a:p>
            <a:pPr>
              <a:spcAft>
                <a:spcPts val="500"/>
              </a:spcAft>
              <a:defRPr sz="1600">
                <a:solidFill>
                  <a:srgbClr val="3C3C46"/>
                </a:solidFill>
              </a:defRPr>
            </a:pPr>
            <a:r>
              <a:rPr sz="1200" dirty="0"/>
              <a:t>    • No personally identifiable information (PII) present — dataset contains</a:t>
            </a:r>
          </a:p>
          <a:p>
            <a:pPr>
              <a:spcAft>
                <a:spcPts val="500"/>
              </a:spcAft>
              <a:defRPr sz="1600">
                <a:solidFill>
                  <a:srgbClr val="3C3C46"/>
                </a:solidFill>
              </a:defRPr>
            </a:pPr>
            <a:r>
              <a:rPr sz="1200" dirty="0"/>
              <a:t>      only aggregated hourly counts, not individual user trip records</a:t>
            </a:r>
          </a:p>
          <a:p>
            <a:pPr>
              <a:spcAft>
                <a:spcPts val="500"/>
              </a:spcAft>
              <a:defRPr sz="1600">
                <a:solidFill>
                  <a:srgbClr val="3C3C46"/>
                </a:solidFill>
              </a:defRPr>
            </a:pPr>
            <a:r>
              <a:rPr sz="1200" dirty="0"/>
              <a:t>    • Original data anonymized at source by Capital Bikeshare before release</a:t>
            </a:r>
          </a:p>
          <a:p>
            <a:pPr>
              <a:spcAft>
                <a:spcPts val="500"/>
              </a:spcAft>
              <a:defRPr sz="1600">
                <a:solidFill>
                  <a:srgbClr val="3C3C46"/>
                </a:solidFill>
              </a:defRPr>
            </a:pPr>
            <a:r>
              <a:rPr sz="1200" dirty="0"/>
              <a:t>    • Analysis operates solely on statistical aggregates (mean, count)</a:t>
            </a:r>
          </a:p>
          <a:p>
            <a:pPr>
              <a:spcBef>
                <a:spcPts val="1200"/>
              </a:spcBef>
              <a:spcAft>
                <a:spcPts val="400"/>
              </a:spcAft>
              <a:defRPr sz="1800" b="1">
                <a:solidFill>
                  <a:srgbClr val="003366"/>
                </a:solidFill>
              </a:defRPr>
            </a:pPr>
            <a:r>
              <a:rPr sz="1400" dirty="0"/>
              <a:t>CONSENT, LICENSING &amp; ATTRIBUTION</a:t>
            </a:r>
          </a:p>
          <a:p>
            <a:pPr>
              <a:spcAft>
                <a:spcPts val="500"/>
              </a:spcAft>
              <a:defRPr sz="1600">
                <a:solidFill>
                  <a:srgbClr val="3C3C46"/>
                </a:solidFill>
              </a:defRPr>
            </a:pPr>
            <a:r>
              <a:rPr sz="1200" dirty="0"/>
              <a:t>    • Dataset released under UCI Machine Learning Repository License</a:t>
            </a:r>
          </a:p>
          <a:p>
            <a:pPr>
              <a:spcAft>
                <a:spcPts val="500"/>
              </a:spcAft>
              <a:defRPr sz="1600">
                <a:solidFill>
                  <a:srgbClr val="3C3C46"/>
                </a:solidFill>
              </a:defRPr>
            </a:pPr>
            <a:r>
              <a:rPr sz="1200" dirty="0"/>
              <a:t>    • Academic and commercial use permitted with proper citation</a:t>
            </a:r>
          </a:p>
          <a:p>
            <a:pPr>
              <a:spcAft>
                <a:spcPts val="500"/>
              </a:spcAft>
              <a:defRPr sz="1600">
                <a:solidFill>
                  <a:srgbClr val="3C3C46"/>
                </a:solidFill>
              </a:defRPr>
            </a:pPr>
            <a:r>
              <a:rPr sz="1200" dirty="0"/>
              <a:t>    • Original authors (</a:t>
            </a:r>
            <a:r>
              <a:rPr sz="1200" dirty="0" err="1"/>
              <a:t>Fanaee</a:t>
            </a:r>
            <a:r>
              <a:rPr sz="1200" dirty="0"/>
              <a:t>-T &amp; Gama, 2014) properly credited</a:t>
            </a:r>
          </a:p>
          <a:p>
            <a:pPr>
              <a:spcAft>
                <a:spcPts val="500"/>
              </a:spcAft>
              <a:defRPr sz="1600">
                <a:solidFill>
                  <a:srgbClr val="3C3C46"/>
                </a:solidFill>
              </a:defRPr>
            </a:pPr>
            <a:r>
              <a:rPr sz="1200" dirty="0"/>
              <a:t>    • Code published open-source on GitHub for reproducibility</a:t>
            </a:r>
          </a:p>
          <a:p>
            <a:pPr>
              <a:spcBef>
                <a:spcPts val="1200"/>
              </a:spcBef>
              <a:spcAft>
                <a:spcPts val="400"/>
              </a:spcAft>
              <a:defRPr sz="1800" b="1">
                <a:solidFill>
                  <a:srgbClr val="003366"/>
                </a:solidFill>
              </a:defRPr>
            </a:pPr>
            <a:r>
              <a:rPr sz="1400" dirty="0"/>
              <a:t>BIAS &amp; GENERALIZABILITY CONSIDERATIONS</a:t>
            </a:r>
          </a:p>
          <a:p>
            <a:pPr>
              <a:spcAft>
                <a:spcPts val="500"/>
              </a:spcAft>
              <a:defRPr sz="1600">
                <a:solidFill>
                  <a:srgbClr val="3C3C46"/>
                </a:solidFill>
              </a:defRPr>
            </a:pPr>
            <a:r>
              <a:rPr sz="1200" dirty="0"/>
              <a:t>    • Geographic bias: Single city (Washington D.C.) — patterns may differ</a:t>
            </a:r>
          </a:p>
          <a:p>
            <a:pPr>
              <a:spcAft>
                <a:spcPts val="500"/>
              </a:spcAft>
              <a:defRPr sz="1600">
                <a:solidFill>
                  <a:srgbClr val="3C3C46"/>
                </a:solidFill>
              </a:defRPr>
            </a:pPr>
            <a:r>
              <a:rPr sz="1200" dirty="0"/>
              <a:t>      in other cities with different climates, infrastructure, culture</a:t>
            </a:r>
          </a:p>
          <a:p>
            <a:pPr>
              <a:spcAft>
                <a:spcPts val="500"/>
              </a:spcAft>
              <a:defRPr sz="1600">
                <a:solidFill>
                  <a:srgbClr val="3C3C46"/>
                </a:solidFill>
              </a:defRPr>
            </a:pPr>
            <a:r>
              <a:rPr sz="1200" dirty="0"/>
              <a:t>    • Temporal bias: Pre-pandemic data (2011-2012) — COVID-19 drastically</a:t>
            </a:r>
          </a:p>
          <a:p>
            <a:pPr>
              <a:spcAft>
                <a:spcPts val="500"/>
              </a:spcAft>
              <a:defRPr sz="1600">
                <a:solidFill>
                  <a:srgbClr val="3C3C46"/>
                </a:solidFill>
              </a:defRPr>
            </a:pPr>
            <a:r>
              <a:rPr sz="1200" dirty="0"/>
              <a:t>      altered urban mobility; model may not apply to 2020+ demand patterns</a:t>
            </a:r>
          </a:p>
          <a:p>
            <a:pPr>
              <a:spcAft>
                <a:spcPts val="500"/>
              </a:spcAft>
              <a:defRPr sz="1600">
                <a:solidFill>
                  <a:srgbClr val="3C3C46"/>
                </a:solidFill>
              </a:defRPr>
            </a:pPr>
            <a:r>
              <a:rPr sz="1200" dirty="0"/>
              <a:t>    • Socioeconomic: Station locations may favor certain neighborhoods</a:t>
            </a:r>
          </a:p>
        </p:txBody>
      </p:sp>
      <p:sp>
        <p:nvSpPr>
          <p:cNvPr id="6" name="Rectangle 5"/>
          <p:cNvSpPr/>
          <p:nvPr/>
        </p:nvSpPr>
        <p:spPr>
          <a:xfrm>
            <a:off x="0" y="6355080"/>
            <a:ext cx="12191695" cy="50292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6428232"/>
            <a:ext cx="3657600" cy="365760"/>
          </a:xfrm>
          <a:prstGeom prst="rect">
            <a:avLst/>
          </a:prstGeom>
          <a:noFill/>
        </p:spPr>
        <p:txBody>
          <a:bodyPr wrap="none">
            <a:spAutoFit/>
          </a:bodyPr>
          <a:lstStyle/>
          <a:p>
            <a:pPr>
              <a:defRPr sz="1100">
                <a:solidFill>
                  <a:srgbClr val="FFFFFF"/>
                </a:solidFill>
              </a:defRPr>
            </a:pPr>
            <a:r>
              <a:t>Slide 7</a:t>
            </a:r>
          </a:p>
        </p:txBody>
      </p:sp>
      <p:sp>
        <p:nvSpPr>
          <p:cNvPr id="8" name="TextBox 7"/>
          <p:cNvSpPr txBox="1"/>
          <p:nvPr/>
        </p:nvSpPr>
        <p:spPr>
          <a:xfrm>
            <a:off x="7581214" y="6428232"/>
            <a:ext cx="4305986" cy="261610"/>
          </a:xfrm>
          <a:prstGeom prst="rect">
            <a:avLst/>
          </a:prstGeom>
          <a:noFill/>
        </p:spPr>
        <p:txBody>
          <a:bodyPr wrap="none">
            <a:spAutoFit/>
          </a:bodyPr>
          <a:lstStyle/>
          <a:p>
            <a:pPr algn="r">
              <a:defRPr sz="1100">
                <a:solidFill>
                  <a:srgbClr val="FFFFFF"/>
                </a:solidFill>
              </a:defRPr>
            </a:pPr>
            <a:r>
              <a:rPr lang="fi-FI" dirty="0"/>
              <a:t>Naga Venkata Sai Ram Charan Pullabhotla</a:t>
            </a:r>
            <a:r>
              <a:rPr dirty="0"/>
              <a:t>  |  University of Hertfordshire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457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058400" cy="731520"/>
          </a:xfrm>
          <a:prstGeom prst="rect">
            <a:avLst/>
          </a:prstGeom>
          <a:noFill/>
        </p:spPr>
        <p:txBody>
          <a:bodyPr wrap="none">
            <a:spAutoFit/>
          </a:bodyPr>
          <a:lstStyle/>
          <a:p>
            <a:pPr>
              <a:defRPr sz="3000" b="1">
                <a:solidFill>
                  <a:srgbClr val="FFFFFF"/>
                </a:solidFill>
              </a:defRPr>
            </a:pPr>
            <a:r>
              <a:t>Exploratory Data Analysis (1/2)</a:t>
            </a:r>
          </a:p>
        </p:txBody>
      </p:sp>
      <p:pic>
        <p:nvPicPr>
          <p:cNvPr id="5" name="Picture 4" descr="02_hourly_avg.png"/>
          <p:cNvPicPr>
            <a:picLocks noChangeAspect="1"/>
          </p:cNvPicPr>
          <p:nvPr/>
        </p:nvPicPr>
        <p:blipFill>
          <a:blip r:embed="rId3"/>
          <a:stretch>
            <a:fillRect/>
          </a:stretch>
        </p:blipFill>
        <p:spPr>
          <a:xfrm>
            <a:off x="5943600" y="1280160"/>
            <a:ext cx="5943600" cy="2433443"/>
          </a:xfrm>
          <a:prstGeom prst="rect">
            <a:avLst/>
          </a:prstGeom>
        </p:spPr>
      </p:pic>
      <p:sp>
        <p:nvSpPr>
          <p:cNvPr id="6" name="TextBox 5"/>
          <p:cNvSpPr txBox="1"/>
          <p:nvPr/>
        </p:nvSpPr>
        <p:spPr>
          <a:xfrm>
            <a:off x="365760" y="1371600"/>
            <a:ext cx="5394960" cy="4211409"/>
          </a:xfrm>
          <a:prstGeom prst="rect">
            <a:avLst/>
          </a:prstGeom>
          <a:noFill/>
        </p:spPr>
        <p:txBody>
          <a:bodyPr wrap="square">
            <a:spAutoFit/>
          </a:bodyPr>
          <a:lstStyle/>
          <a:p>
            <a:pPr>
              <a:spcBef>
                <a:spcPts val="800"/>
              </a:spcBef>
              <a:spcAft>
                <a:spcPts val="200"/>
              </a:spcAft>
              <a:defRPr sz="1400" b="1">
                <a:solidFill>
                  <a:srgbClr val="003366"/>
                </a:solidFill>
              </a:defRPr>
            </a:pPr>
            <a:r>
              <a:rPr sz="1400" dirty="0"/>
              <a:t>TEMPORAL PATTERNS IN TIME SERIES</a:t>
            </a:r>
          </a:p>
          <a:p>
            <a:pPr>
              <a:spcAft>
                <a:spcPts val="200"/>
              </a:spcAft>
              <a:defRPr sz="1100">
                <a:solidFill>
                  <a:srgbClr val="3C3C46"/>
                </a:solidFill>
              </a:defRPr>
            </a:pPr>
            <a:r>
              <a:rPr sz="1200" dirty="0"/>
              <a:t>    • Clear upward trend: 2012 avg rentals ~67%</a:t>
            </a:r>
          </a:p>
          <a:p>
            <a:pPr>
              <a:spcAft>
                <a:spcPts val="200"/>
              </a:spcAft>
              <a:defRPr sz="1100">
                <a:solidFill>
                  <a:srgbClr val="3C3C46"/>
                </a:solidFill>
              </a:defRPr>
            </a:pPr>
            <a:r>
              <a:rPr sz="1200" dirty="0"/>
              <a:t>      higher than 2011 (system growth)</a:t>
            </a:r>
          </a:p>
          <a:p>
            <a:pPr>
              <a:spcAft>
                <a:spcPts val="200"/>
              </a:spcAft>
              <a:defRPr sz="1100">
                <a:solidFill>
                  <a:srgbClr val="3C3C46"/>
                </a:solidFill>
              </a:defRPr>
            </a:pPr>
            <a:r>
              <a:rPr sz="1200" dirty="0"/>
              <a:t>    • Strong yearly seasonality: Summer peak</a:t>
            </a:r>
          </a:p>
          <a:p>
            <a:pPr>
              <a:spcAft>
                <a:spcPts val="200"/>
              </a:spcAft>
              <a:defRPr sz="1100">
                <a:solidFill>
                  <a:srgbClr val="3C3C46"/>
                </a:solidFill>
              </a:defRPr>
            </a:pPr>
            <a:r>
              <a:rPr sz="1200" dirty="0"/>
              <a:t>      (Jun-Aug) vs Winter trough (Dec-Feb)</a:t>
            </a:r>
          </a:p>
          <a:p>
            <a:pPr>
              <a:spcAft>
                <a:spcPts val="200"/>
              </a:spcAft>
              <a:defRPr sz="1100">
                <a:solidFill>
                  <a:srgbClr val="3C3C46"/>
                </a:solidFill>
              </a:defRPr>
            </a:pPr>
            <a:r>
              <a:rPr sz="1200" dirty="0"/>
              <a:t>    • Holiday dips visible (Christmas, July 4th)</a:t>
            </a:r>
          </a:p>
          <a:p>
            <a:pPr>
              <a:spcAft>
                <a:spcPts val="200"/>
              </a:spcAft>
              <a:defRPr sz="1100">
                <a:solidFill>
                  <a:srgbClr val="3C3C46"/>
                </a:solidFill>
              </a:defRPr>
            </a:pPr>
            <a:endParaRPr sz="1400" dirty="0"/>
          </a:p>
          <a:p>
            <a:pPr>
              <a:spcBef>
                <a:spcPts val="800"/>
              </a:spcBef>
              <a:spcAft>
                <a:spcPts val="200"/>
              </a:spcAft>
              <a:defRPr sz="1400" b="1">
                <a:solidFill>
                  <a:srgbClr val="003366"/>
                </a:solidFill>
              </a:defRPr>
            </a:pPr>
            <a:r>
              <a:rPr sz="1400" dirty="0"/>
              <a:t>INTRA-DAY DEMAND DISTRIBUTION</a:t>
            </a:r>
          </a:p>
          <a:p>
            <a:pPr>
              <a:spcAft>
                <a:spcPts val="200"/>
              </a:spcAft>
              <a:defRPr sz="1100">
                <a:solidFill>
                  <a:srgbClr val="3C3C46"/>
                </a:solidFill>
              </a:defRPr>
            </a:pPr>
            <a:r>
              <a:rPr sz="1200" dirty="0"/>
              <a:t>    • Bimodal hourly pattern reflects commuting:</a:t>
            </a:r>
          </a:p>
          <a:p>
            <a:pPr>
              <a:spcAft>
                <a:spcPts val="200"/>
              </a:spcAft>
              <a:defRPr sz="1100">
                <a:solidFill>
                  <a:srgbClr val="3C3C46"/>
                </a:solidFill>
              </a:defRPr>
            </a:pPr>
            <a:r>
              <a:rPr sz="1200" dirty="0"/>
              <a:t>      Morning rush 7-9AM (~300-355 avg rentals)</a:t>
            </a:r>
          </a:p>
          <a:p>
            <a:pPr>
              <a:spcAft>
                <a:spcPts val="200"/>
              </a:spcAft>
              <a:defRPr sz="1100">
                <a:solidFill>
                  <a:srgbClr val="3C3C46"/>
                </a:solidFill>
              </a:defRPr>
            </a:pPr>
            <a:r>
              <a:rPr sz="1200" dirty="0"/>
              <a:t>      Evening rush 5-7PM (~400-460 avg rentals)</a:t>
            </a:r>
          </a:p>
          <a:p>
            <a:pPr>
              <a:spcAft>
                <a:spcPts val="200"/>
              </a:spcAft>
              <a:defRPr sz="1100">
                <a:solidFill>
                  <a:srgbClr val="3C3C46"/>
                </a:solidFill>
              </a:defRPr>
            </a:pPr>
            <a:r>
              <a:rPr sz="1200" dirty="0"/>
              <a:t>    • Night hours 2-5AM: minimum (~5-25 rentals)</a:t>
            </a:r>
          </a:p>
          <a:p>
            <a:pPr>
              <a:spcAft>
                <a:spcPts val="200"/>
              </a:spcAft>
              <a:defRPr sz="1100">
                <a:solidFill>
                  <a:srgbClr val="3C3C46"/>
                </a:solidFill>
              </a:defRPr>
            </a:pPr>
            <a:r>
              <a:rPr sz="1200" dirty="0"/>
              <a:t>    • Weekend pattern differs: single mid-day peak</a:t>
            </a:r>
          </a:p>
          <a:p>
            <a:pPr>
              <a:spcAft>
                <a:spcPts val="200"/>
              </a:spcAft>
              <a:defRPr sz="1100">
                <a:solidFill>
                  <a:srgbClr val="3C3C46"/>
                </a:solidFill>
              </a:defRPr>
            </a:pPr>
            <a:endParaRPr sz="1400" dirty="0"/>
          </a:p>
          <a:p>
            <a:pPr>
              <a:spcBef>
                <a:spcPts val="800"/>
              </a:spcBef>
              <a:spcAft>
                <a:spcPts val="200"/>
              </a:spcAft>
              <a:defRPr sz="1400" b="1">
                <a:solidFill>
                  <a:srgbClr val="003366"/>
                </a:solidFill>
              </a:defRPr>
            </a:pPr>
            <a:r>
              <a:rPr sz="1400" dirty="0"/>
              <a:t>STATISTICAL SUMMARY</a:t>
            </a:r>
          </a:p>
          <a:p>
            <a:pPr>
              <a:spcAft>
                <a:spcPts val="200"/>
              </a:spcAft>
              <a:defRPr sz="1100">
                <a:solidFill>
                  <a:srgbClr val="3C3C46"/>
                </a:solidFill>
              </a:defRPr>
            </a:pPr>
            <a:r>
              <a:rPr sz="1200" dirty="0"/>
              <a:t>    • Mean: 189.5 rentals/hour (SD: 181.4)</a:t>
            </a:r>
          </a:p>
          <a:p>
            <a:pPr>
              <a:spcAft>
                <a:spcPts val="200"/>
              </a:spcAft>
              <a:defRPr sz="1100">
                <a:solidFill>
                  <a:srgbClr val="3C3C46"/>
                </a:solidFill>
              </a:defRPr>
            </a:pPr>
            <a:r>
              <a:rPr sz="1200" dirty="0"/>
              <a:t>    • Range: 1 to 977 rentals (high variance)</a:t>
            </a:r>
          </a:p>
          <a:p>
            <a:pPr>
              <a:spcAft>
                <a:spcPts val="200"/>
              </a:spcAft>
              <a:defRPr sz="1100">
                <a:solidFill>
                  <a:srgbClr val="3C3C46"/>
                </a:solidFill>
              </a:defRPr>
            </a:pPr>
            <a:r>
              <a:rPr sz="1200" dirty="0"/>
              <a:t>    • Positive skew: few extremely busy hours</a:t>
            </a:r>
          </a:p>
        </p:txBody>
      </p:sp>
      <p:sp>
        <p:nvSpPr>
          <p:cNvPr id="7" name="Rectangle 6"/>
          <p:cNvSpPr/>
          <p:nvPr/>
        </p:nvSpPr>
        <p:spPr>
          <a:xfrm>
            <a:off x="0" y="6355080"/>
            <a:ext cx="12191695" cy="50292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6428232"/>
            <a:ext cx="3657600" cy="365760"/>
          </a:xfrm>
          <a:prstGeom prst="rect">
            <a:avLst/>
          </a:prstGeom>
          <a:noFill/>
        </p:spPr>
        <p:txBody>
          <a:bodyPr wrap="none">
            <a:spAutoFit/>
          </a:bodyPr>
          <a:lstStyle/>
          <a:p>
            <a:pPr>
              <a:defRPr sz="1100">
                <a:solidFill>
                  <a:srgbClr val="FFFFFF"/>
                </a:solidFill>
              </a:defRPr>
            </a:pPr>
            <a:r>
              <a:t>Slide 8</a:t>
            </a:r>
          </a:p>
        </p:txBody>
      </p:sp>
      <p:sp>
        <p:nvSpPr>
          <p:cNvPr id="9" name="TextBox 8"/>
          <p:cNvSpPr txBox="1"/>
          <p:nvPr/>
        </p:nvSpPr>
        <p:spPr>
          <a:xfrm>
            <a:off x="7581214" y="6428232"/>
            <a:ext cx="4305986" cy="261610"/>
          </a:xfrm>
          <a:prstGeom prst="rect">
            <a:avLst/>
          </a:prstGeom>
          <a:noFill/>
        </p:spPr>
        <p:txBody>
          <a:bodyPr wrap="none">
            <a:spAutoFit/>
          </a:bodyPr>
          <a:lstStyle/>
          <a:p>
            <a:pPr algn="r">
              <a:defRPr sz="1100">
                <a:solidFill>
                  <a:srgbClr val="FFFFFF"/>
                </a:solidFill>
              </a:defRPr>
            </a:pPr>
            <a:r>
              <a:rPr lang="fi-FI" dirty="0"/>
              <a:t>Naga Venkata Sai Ram Charan Pullabhotla</a:t>
            </a:r>
            <a:r>
              <a:rPr dirty="0"/>
              <a:t>  |  University of Hertfordshire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457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058400" cy="731520"/>
          </a:xfrm>
          <a:prstGeom prst="rect">
            <a:avLst/>
          </a:prstGeom>
          <a:noFill/>
        </p:spPr>
        <p:txBody>
          <a:bodyPr wrap="none">
            <a:spAutoFit/>
          </a:bodyPr>
          <a:lstStyle/>
          <a:p>
            <a:pPr>
              <a:defRPr sz="3000" b="1">
                <a:solidFill>
                  <a:srgbClr val="FFFFFF"/>
                </a:solidFill>
              </a:defRPr>
            </a:pPr>
            <a:r>
              <a:t>Exploratory Data Analysis (2/2)</a:t>
            </a:r>
          </a:p>
        </p:txBody>
      </p:sp>
      <p:pic>
        <p:nvPicPr>
          <p:cNvPr id="5" name="Picture 4" descr="03_correlation_before.png"/>
          <p:cNvPicPr>
            <a:picLocks noChangeAspect="1"/>
          </p:cNvPicPr>
          <p:nvPr/>
        </p:nvPicPr>
        <p:blipFill>
          <a:blip r:embed="rId3"/>
          <a:stretch>
            <a:fillRect/>
          </a:stretch>
        </p:blipFill>
        <p:spPr>
          <a:xfrm>
            <a:off x="5943600" y="1280160"/>
            <a:ext cx="5943600" cy="5090823"/>
          </a:xfrm>
          <a:prstGeom prst="rect">
            <a:avLst/>
          </a:prstGeom>
        </p:spPr>
      </p:pic>
      <p:sp>
        <p:nvSpPr>
          <p:cNvPr id="6" name="TextBox 5"/>
          <p:cNvSpPr txBox="1"/>
          <p:nvPr/>
        </p:nvSpPr>
        <p:spPr>
          <a:xfrm>
            <a:off x="365760" y="1371600"/>
            <a:ext cx="5394960" cy="4421723"/>
          </a:xfrm>
          <a:prstGeom prst="rect">
            <a:avLst/>
          </a:prstGeom>
          <a:noFill/>
        </p:spPr>
        <p:txBody>
          <a:bodyPr wrap="square">
            <a:spAutoFit/>
          </a:bodyPr>
          <a:lstStyle/>
          <a:p>
            <a:pPr>
              <a:spcBef>
                <a:spcPts val="800"/>
              </a:spcBef>
              <a:spcAft>
                <a:spcPts val="200"/>
              </a:spcAft>
              <a:defRPr sz="1400" b="1">
                <a:solidFill>
                  <a:srgbClr val="003366"/>
                </a:solidFill>
              </a:defRPr>
            </a:pPr>
            <a:r>
              <a:rPr sz="1400" dirty="0"/>
              <a:t>CORRELATION ANALYSIS FINDINGS</a:t>
            </a:r>
          </a:p>
          <a:p>
            <a:pPr>
              <a:spcAft>
                <a:spcPts val="200"/>
              </a:spcAft>
              <a:defRPr sz="1100">
                <a:solidFill>
                  <a:srgbClr val="3C3C46"/>
                </a:solidFill>
              </a:defRPr>
            </a:pPr>
            <a:r>
              <a:rPr sz="1200" dirty="0"/>
              <a:t>    • Temperature (r=0.40): Moderate positive</a:t>
            </a:r>
          </a:p>
          <a:p>
            <a:pPr>
              <a:spcAft>
                <a:spcPts val="200"/>
              </a:spcAft>
              <a:defRPr sz="1100">
                <a:solidFill>
                  <a:srgbClr val="3C3C46"/>
                </a:solidFill>
              </a:defRPr>
            </a:pPr>
            <a:r>
              <a:rPr sz="1200" dirty="0"/>
              <a:t>      — warmer weather increases demand</a:t>
            </a:r>
          </a:p>
          <a:p>
            <a:pPr>
              <a:spcAft>
                <a:spcPts val="200"/>
              </a:spcAft>
              <a:defRPr sz="1100">
                <a:solidFill>
                  <a:srgbClr val="3C3C46"/>
                </a:solidFill>
              </a:defRPr>
            </a:pPr>
            <a:r>
              <a:rPr sz="1200" dirty="0"/>
              <a:t>    • Hour of day (r=0.39): Cyclic relationship</a:t>
            </a:r>
          </a:p>
          <a:p>
            <a:pPr>
              <a:spcAft>
                <a:spcPts val="200"/>
              </a:spcAft>
              <a:defRPr sz="1100">
                <a:solidFill>
                  <a:srgbClr val="3C3C46"/>
                </a:solidFill>
              </a:defRPr>
            </a:pPr>
            <a:r>
              <a:rPr sz="1200" dirty="0"/>
              <a:t>      (peaks at rush hours, not linear)</a:t>
            </a:r>
          </a:p>
          <a:p>
            <a:pPr>
              <a:spcAft>
                <a:spcPts val="200"/>
              </a:spcAft>
              <a:defRPr sz="1100">
                <a:solidFill>
                  <a:srgbClr val="3C3C46"/>
                </a:solidFill>
              </a:defRPr>
            </a:pPr>
            <a:r>
              <a:rPr sz="1200" dirty="0"/>
              <a:t>    • Humidity (r=-0.32): Negative correlation</a:t>
            </a:r>
          </a:p>
          <a:p>
            <a:pPr>
              <a:spcAft>
                <a:spcPts val="200"/>
              </a:spcAft>
              <a:defRPr sz="1100">
                <a:solidFill>
                  <a:srgbClr val="3C3C46"/>
                </a:solidFill>
              </a:defRPr>
            </a:pPr>
            <a:r>
              <a:rPr sz="1200" dirty="0"/>
              <a:t>      — rain/dampness reduces cycling</a:t>
            </a:r>
          </a:p>
          <a:p>
            <a:pPr>
              <a:spcAft>
                <a:spcPts val="200"/>
              </a:spcAft>
              <a:defRPr sz="1100">
                <a:solidFill>
                  <a:srgbClr val="3C3C46"/>
                </a:solidFill>
              </a:defRPr>
            </a:pPr>
            <a:r>
              <a:rPr sz="1200" dirty="0"/>
              <a:t>    • Windspeed (r=0.09): Weak effect</a:t>
            </a:r>
          </a:p>
          <a:p>
            <a:pPr>
              <a:spcAft>
                <a:spcPts val="200"/>
              </a:spcAft>
              <a:defRPr sz="1100">
                <a:solidFill>
                  <a:srgbClr val="3C3C46"/>
                </a:solidFill>
              </a:defRPr>
            </a:pPr>
            <a:endParaRPr sz="1400" dirty="0"/>
          </a:p>
          <a:p>
            <a:pPr>
              <a:spcBef>
                <a:spcPts val="800"/>
              </a:spcBef>
              <a:spcAft>
                <a:spcPts val="200"/>
              </a:spcAft>
              <a:defRPr sz="1400" b="1">
                <a:solidFill>
                  <a:srgbClr val="003366"/>
                </a:solidFill>
              </a:defRPr>
            </a:pPr>
            <a:r>
              <a:rPr sz="1400" dirty="0"/>
              <a:t>MULTICOLLINEARITY CONCERNS</a:t>
            </a:r>
          </a:p>
          <a:p>
            <a:pPr>
              <a:spcAft>
                <a:spcPts val="200"/>
              </a:spcAft>
              <a:defRPr sz="1100">
                <a:solidFill>
                  <a:srgbClr val="3C3C46"/>
                </a:solidFill>
              </a:defRPr>
            </a:pPr>
            <a:r>
              <a:rPr sz="1200" dirty="0"/>
              <a:t>    • temp &amp; </a:t>
            </a:r>
            <a:r>
              <a:rPr sz="1200" dirty="0" err="1"/>
              <a:t>atemp</a:t>
            </a:r>
            <a:r>
              <a:rPr sz="1200" dirty="0"/>
              <a:t>: r=0.99 (redundant)</a:t>
            </a:r>
          </a:p>
          <a:p>
            <a:pPr>
              <a:spcAft>
                <a:spcPts val="200"/>
              </a:spcAft>
              <a:defRPr sz="1100">
                <a:solidFill>
                  <a:srgbClr val="3C3C46"/>
                </a:solidFill>
              </a:defRPr>
            </a:pPr>
            <a:r>
              <a:rPr sz="1200" dirty="0"/>
              <a:t>      — keep only temp to avoid collinearity</a:t>
            </a:r>
          </a:p>
          <a:p>
            <a:pPr>
              <a:spcAft>
                <a:spcPts val="200"/>
              </a:spcAft>
              <a:defRPr sz="1100">
                <a:solidFill>
                  <a:srgbClr val="3C3C46"/>
                </a:solidFill>
              </a:defRPr>
            </a:pPr>
            <a:r>
              <a:rPr sz="1200" dirty="0"/>
              <a:t>    • casual + registered = </a:t>
            </a:r>
            <a:r>
              <a:rPr sz="1200" dirty="0" err="1"/>
              <a:t>cnt</a:t>
            </a:r>
            <a:r>
              <a:rPr sz="1200" dirty="0"/>
              <a:t> (leakage risk)</a:t>
            </a:r>
          </a:p>
          <a:p>
            <a:pPr>
              <a:spcAft>
                <a:spcPts val="200"/>
              </a:spcAft>
              <a:defRPr sz="1100">
                <a:solidFill>
                  <a:srgbClr val="3C3C46"/>
                </a:solidFill>
              </a:defRPr>
            </a:pPr>
            <a:r>
              <a:rPr sz="1200" dirty="0"/>
              <a:t>      — never use as predictors</a:t>
            </a:r>
          </a:p>
          <a:p>
            <a:pPr>
              <a:spcAft>
                <a:spcPts val="200"/>
              </a:spcAft>
              <a:defRPr sz="1100">
                <a:solidFill>
                  <a:srgbClr val="3C3C46"/>
                </a:solidFill>
              </a:defRPr>
            </a:pPr>
            <a:endParaRPr sz="1400" dirty="0"/>
          </a:p>
          <a:p>
            <a:pPr>
              <a:spcBef>
                <a:spcPts val="800"/>
              </a:spcBef>
              <a:spcAft>
                <a:spcPts val="200"/>
              </a:spcAft>
              <a:defRPr sz="1400" b="1">
                <a:solidFill>
                  <a:srgbClr val="003366"/>
                </a:solidFill>
              </a:defRPr>
            </a:pPr>
            <a:r>
              <a:rPr sz="1400" dirty="0"/>
              <a:t>ACF/PACF ANALYSIS SUMMARY</a:t>
            </a:r>
          </a:p>
          <a:p>
            <a:pPr>
              <a:spcAft>
                <a:spcPts val="200"/>
              </a:spcAft>
              <a:defRPr sz="1100">
                <a:solidFill>
                  <a:srgbClr val="3C3C46"/>
                </a:solidFill>
              </a:defRPr>
            </a:pPr>
            <a:r>
              <a:rPr sz="1200" dirty="0"/>
              <a:t>    • ACF: Significant spikes at lags 1, 24, 48</a:t>
            </a:r>
          </a:p>
          <a:p>
            <a:pPr>
              <a:spcAft>
                <a:spcPts val="200"/>
              </a:spcAft>
              <a:defRPr sz="1100">
                <a:solidFill>
                  <a:srgbClr val="3C3C46"/>
                </a:solidFill>
              </a:defRPr>
            </a:pPr>
            <a:r>
              <a:rPr sz="1200" dirty="0"/>
              <a:t>    • PACF: Cutoff after lag 2 → suggests AR(2)</a:t>
            </a:r>
          </a:p>
          <a:p>
            <a:pPr>
              <a:spcAft>
                <a:spcPts val="200"/>
              </a:spcAft>
              <a:defRPr sz="1100">
                <a:solidFill>
                  <a:srgbClr val="3C3C46"/>
                </a:solidFill>
              </a:defRPr>
            </a:pPr>
            <a:r>
              <a:rPr sz="1200" dirty="0"/>
              <a:t>    • Seasonal spike at lag 24 → hourly cycle</a:t>
            </a:r>
          </a:p>
        </p:txBody>
      </p:sp>
      <p:sp>
        <p:nvSpPr>
          <p:cNvPr id="7" name="Rectangle 6"/>
          <p:cNvSpPr/>
          <p:nvPr/>
        </p:nvSpPr>
        <p:spPr>
          <a:xfrm>
            <a:off x="0" y="6355080"/>
            <a:ext cx="12191695" cy="50292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6428232"/>
            <a:ext cx="3657600" cy="365760"/>
          </a:xfrm>
          <a:prstGeom prst="rect">
            <a:avLst/>
          </a:prstGeom>
          <a:noFill/>
        </p:spPr>
        <p:txBody>
          <a:bodyPr wrap="none">
            <a:spAutoFit/>
          </a:bodyPr>
          <a:lstStyle/>
          <a:p>
            <a:pPr>
              <a:defRPr sz="1100">
                <a:solidFill>
                  <a:srgbClr val="FFFFFF"/>
                </a:solidFill>
              </a:defRPr>
            </a:pPr>
            <a:r>
              <a:t>Slide 9</a:t>
            </a:r>
          </a:p>
        </p:txBody>
      </p:sp>
      <p:sp>
        <p:nvSpPr>
          <p:cNvPr id="9" name="TextBox 8"/>
          <p:cNvSpPr txBox="1"/>
          <p:nvPr/>
        </p:nvSpPr>
        <p:spPr>
          <a:xfrm>
            <a:off x="7581214" y="6428232"/>
            <a:ext cx="4305986" cy="261610"/>
          </a:xfrm>
          <a:prstGeom prst="rect">
            <a:avLst/>
          </a:prstGeom>
          <a:noFill/>
        </p:spPr>
        <p:txBody>
          <a:bodyPr wrap="none">
            <a:spAutoFit/>
          </a:bodyPr>
          <a:lstStyle/>
          <a:p>
            <a:pPr algn="r">
              <a:defRPr sz="1100">
                <a:solidFill>
                  <a:srgbClr val="FFFFFF"/>
                </a:solidFill>
              </a:defRPr>
            </a:pPr>
            <a:r>
              <a:rPr lang="fi-FI" dirty="0"/>
              <a:t>Naga Venkata Sai Ram Charan Pullabhotla</a:t>
            </a:r>
            <a:r>
              <a:rPr dirty="0"/>
              <a:t>  |  University of Hertfordshire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457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058400" cy="731520"/>
          </a:xfrm>
          <a:prstGeom prst="rect">
            <a:avLst/>
          </a:prstGeom>
          <a:noFill/>
        </p:spPr>
        <p:txBody>
          <a:bodyPr wrap="none">
            <a:spAutoFit/>
          </a:bodyPr>
          <a:lstStyle/>
          <a:p>
            <a:pPr>
              <a:defRPr sz="3000" b="1">
                <a:solidFill>
                  <a:srgbClr val="FFFFFF"/>
                </a:solidFill>
              </a:defRPr>
            </a:pPr>
            <a:r>
              <a:t>Data Preprocessing</a:t>
            </a:r>
          </a:p>
        </p:txBody>
      </p:sp>
      <p:pic>
        <p:nvPicPr>
          <p:cNvPr id="5" name="Picture 4" descr="07_correlation_after.png"/>
          <p:cNvPicPr>
            <a:picLocks noChangeAspect="1"/>
          </p:cNvPicPr>
          <p:nvPr/>
        </p:nvPicPr>
        <p:blipFill>
          <a:blip r:embed="rId3"/>
          <a:stretch>
            <a:fillRect/>
          </a:stretch>
        </p:blipFill>
        <p:spPr>
          <a:xfrm>
            <a:off x="5943600" y="1280160"/>
            <a:ext cx="5943600" cy="5063383"/>
          </a:xfrm>
          <a:prstGeom prst="rect">
            <a:avLst/>
          </a:prstGeom>
        </p:spPr>
      </p:pic>
      <p:sp>
        <p:nvSpPr>
          <p:cNvPr id="6" name="TextBox 5"/>
          <p:cNvSpPr txBox="1"/>
          <p:nvPr/>
        </p:nvSpPr>
        <p:spPr>
          <a:xfrm>
            <a:off x="365760" y="1371600"/>
            <a:ext cx="5394960" cy="4544834"/>
          </a:xfrm>
          <a:prstGeom prst="rect">
            <a:avLst/>
          </a:prstGeom>
          <a:noFill/>
        </p:spPr>
        <p:txBody>
          <a:bodyPr wrap="square">
            <a:spAutoFit/>
          </a:bodyPr>
          <a:lstStyle/>
          <a:p>
            <a:pPr>
              <a:spcBef>
                <a:spcPts val="800"/>
              </a:spcBef>
              <a:spcAft>
                <a:spcPts val="200"/>
              </a:spcAft>
              <a:defRPr sz="1400" b="1">
                <a:solidFill>
                  <a:srgbClr val="003366"/>
                </a:solidFill>
              </a:defRPr>
            </a:pPr>
            <a:r>
              <a:rPr sz="1400" dirty="0"/>
              <a:t>TEMPORAL TRAIN-TEST SPLIT</a:t>
            </a:r>
          </a:p>
          <a:p>
            <a:pPr>
              <a:spcAft>
                <a:spcPts val="200"/>
              </a:spcAft>
              <a:defRPr sz="1100">
                <a:solidFill>
                  <a:srgbClr val="3C3C46"/>
                </a:solidFill>
              </a:defRPr>
            </a:pPr>
            <a:r>
              <a:rPr sz="1400" dirty="0"/>
              <a:t>    </a:t>
            </a:r>
            <a:r>
              <a:rPr sz="1200" dirty="0"/>
              <a:t>• Training: 15,641 records (~90%)</a:t>
            </a:r>
          </a:p>
          <a:p>
            <a:pPr>
              <a:spcAft>
                <a:spcPts val="200"/>
              </a:spcAft>
              <a:defRPr sz="1100">
                <a:solidFill>
                  <a:srgbClr val="3C3C46"/>
                </a:solidFill>
              </a:defRPr>
            </a:pPr>
            <a:r>
              <a:rPr sz="1200" dirty="0"/>
              <a:t>    • Testing: 1,738 records (~10%, last ~72 days)</a:t>
            </a:r>
          </a:p>
          <a:p>
            <a:pPr>
              <a:spcAft>
                <a:spcPts val="200"/>
              </a:spcAft>
              <a:defRPr sz="1100">
                <a:solidFill>
                  <a:srgbClr val="3C3C46"/>
                </a:solidFill>
              </a:defRPr>
            </a:pPr>
            <a:r>
              <a:rPr sz="1200" dirty="0"/>
              <a:t>    • Strictly chronological split maintains temporal</a:t>
            </a:r>
          </a:p>
          <a:p>
            <a:pPr>
              <a:spcAft>
                <a:spcPts val="200"/>
              </a:spcAft>
              <a:defRPr sz="1100">
                <a:solidFill>
                  <a:srgbClr val="3C3C46"/>
                </a:solidFill>
              </a:defRPr>
            </a:pPr>
            <a:r>
              <a:rPr sz="1200" dirty="0"/>
              <a:t>      causality — no future data leakage</a:t>
            </a:r>
          </a:p>
          <a:p>
            <a:pPr>
              <a:spcAft>
                <a:spcPts val="200"/>
              </a:spcAft>
              <a:defRPr sz="1100">
                <a:solidFill>
                  <a:srgbClr val="3C3C46"/>
                </a:solidFill>
              </a:defRPr>
            </a:pPr>
            <a:endParaRPr sz="1400" dirty="0"/>
          </a:p>
          <a:p>
            <a:pPr>
              <a:spcBef>
                <a:spcPts val="800"/>
              </a:spcBef>
              <a:spcAft>
                <a:spcPts val="200"/>
              </a:spcAft>
              <a:defRPr sz="1400" b="1">
                <a:solidFill>
                  <a:srgbClr val="003366"/>
                </a:solidFill>
              </a:defRPr>
            </a:pPr>
            <a:r>
              <a:rPr sz="1400" dirty="0"/>
              <a:t>ENGINEERED FEATURES (16 TOTAL)</a:t>
            </a:r>
          </a:p>
          <a:p>
            <a:pPr>
              <a:spcAft>
                <a:spcPts val="200"/>
              </a:spcAft>
              <a:defRPr sz="1100">
                <a:solidFill>
                  <a:srgbClr val="3C3C46"/>
                </a:solidFill>
              </a:defRPr>
            </a:pPr>
            <a:r>
              <a:rPr sz="1200" dirty="0"/>
              <a:t>    • Cyclical: </a:t>
            </a:r>
            <a:r>
              <a:rPr sz="1200" dirty="0" err="1"/>
              <a:t>hr_sin</a:t>
            </a:r>
            <a:r>
              <a:rPr sz="1200" dirty="0"/>
              <a:t>, </a:t>
            </a:r>
            <a:r>
              <a:rPr sz="1200" dirty="0" err="1"/>
              <a:t>hr_cos</a:t>
            </a:r>
            <a:r>
              <a:rPr sz="1200" dirty="0"/>
              <a:t> (24h continuity)</a:t>
            </a:r>
          </a:p>
          <a:p>
            <a:pPr>
              <a:spcAft>
                <a:spcPts val="200"/>
              </a:spcAft>
              <a:defRPr sz="1100">
                <a:solidFill>
                  <a:srgbClr val="3C3C46"/>
                </a:solidFill>
              </a:defRPr>
            </a:pPr>
            <a:r>
              <a:rPr sz="1200" dirty="0"/>
              <a:t>      — preserves hour 23→0 proximity</a:t>
            </a:r>
          </a:p>
          <a:p>
            <a:pPr>
              <a:spcAft>
                <a:spcPts val="200"/>
              </a:spcAft>
              <a:defRPr sz="1100">
                <a:solidFill>
                  <a:srgbClr val="3C3C46"/>
                </a:solidFill>
              </a:defRPr>
            </a:pPr>
            <a:r>
              <a:rPr sz="1200" dirty="0"/>
              <a:t>    • Non-linear: temp² (inverted-U pattern)</a:t>
            </a:r>
          </a:p>
          <a:p>
            <a:pPr>
              <a:spcAft>
                <a:spcPts val="200"/>
              </a:spcAft>
              <a:defRPr sz="1100">
                <a:solidFill>
                  <a:srgbClr val="3C3C46"/>
                </a:solidFill>
              </a:defRPr>
            </a:pPr>
            <a:r>
              <a:rPr sz="1200" dirty="0"/>
              <a:t>    • Interaction: </a:t>
            </a:r>
            <a:r>
              <a:rPr sz="1200" dirty="0" err="1"/>
              <a:t>temp×hum</a:t>
            </a:r>
            <a:r>
              <a:rPr sz="1200" dirty="0"/>
              <a:t> (discomfort)</a:t>
            </a:r>
          </a:p>
          <a:p>
            <a:pPr>
              <a:spcAft>
                <a:spcPts val="200"/>
              </a:spcAft>
              <a:defRPr sz="1100">
                <a:solidFill>
                  <a:srgbClr val="3C3C46"/>
                </a:solidFill>
              </a:defRPr>
            </a:pPr>
            <a:r>
              <a:rPr sz="1200" dirty="0"/>
              <a:t>    • Binary: </a:t>
            </a:r>
            <a:r>
              <a:rPr sz="1200" dirty="0" err="1"/>
              <a:t>rush_hour</a:t>
            </a:r>
            <a:r>
              <a:rPr sz="1200" dirty="0"/>
              <a:t>, </a:t>
            </a:r>
            <a:r>
              <a:rPr sz="1200" dirty="0" err="1"/>
              <a:t>is_weekend</a:t>
            </a:r>
            <a:endParaRPr sz="1200" dirty="0"/>
          </a:p>
          <a:p>
            <a:pPr>
              <a:spcAft>
                <a:spcPts val="200"/>
              </a:spcAft>
              <a:defRPr sz="1100">
                <a:solidFill>
                  <a:srgbClr val="3C3C46"/>
                </a:solidFill>
              </a:defRPr>
            </a:pPr>
            <a:r>
              <a:rPr sz="1200" dirty="0"/>
              <a:t>    • Lag: 1h, 24h, 48h, 168h (autoregressive)</a:t>
            </a:r>
          </a:p>
          <a:p>
            <a:pPr>
              <a:spcAft>
                <a:spcPts val="200"/>
              </a:spcAft>
              <a:defRPr sz="1100">
                <a:solidFill>
                  <a:srgbClr val="3C3C46"/>
                </a:solidFill>
              </a:defRPr>
            </a:pPr>
            <a:r>
              <a:rPr sz="1200" dirty="0"/>
              <a:t>    • Rolling: 24h mean (trend smoothing)</a:t>
            </a:r>
          </a:p>
          <a:p>
            <a:pPr>
              <a:spcAft>
                <a:spcPts val="200"/>
              </a:spcAft>
              <a:defRPr sz="1100">
                <a:solidFill>
                  <a:srgbClr val="3C3C46"/>
                </a:solidFill>
              </a:defRPr>
            </a:pPr>
            <a:endParaRPr sz="1400" dirty="0"/>
          </a:p>
          <a:p>
            <a:pPr>
              <a:spcBef>
                <a:spcPts val="800"/>
              </a:spcBef>
              <a:spcAft>
                <a:spcPts val="200"/>
              </a:spcAft>
              <a:defRPr sz="1400" b="1">
                <a:solidFill>
                  <a:srgbClr val="003366"/>
                </a:solidFill>
              </a:defRPr>
            </a:pPr>
            <a:r>
              <a:rPr sz="1400" dirty="0"/>
              <a:t>POST-FE CORRELATION INSIGHTS</a:t>
            </a:r>
          </a:p>
          <a:p>
            <a:pPr>
              <a:spcAft>
                <a:spcPts val="200"/>
              </a:spcAft>
              <a:defRPr sz="1100">
                <a:solidFill>
                  <a:srgbClr val="3C3C46"/>
                </a:solidFill>
              </a:defRPr>
            </a:pPr>
            <a:r>
              <a:rPr sz="1200" dirty="0"/>
              <a:t>    • New features show varied correlations</a:t>
            </a:r>
          </a:p>
          <a:p>
            <a:pPr>
              <a:spcAft>
                <a:spcPts val="200"/>
              </a:spcAft>
              <a:defRPr sz="1100">
                <a:solidFill>
                  <a:srgbClr val="3C3C46"/>
                </a:solidFill>
              </a:defRPr>
            </a:pPr>
            <a:r>
              <a:rPr sz="1200" dirty="0"/>
              <a:t>    • </a:t>
            </a:r>
            <a:r>
              <a:rPr sz="1200" dirty="0" err="1"/>
              <a:t>hr_sin</a:t>
            </a:r>
            <a:r>
              <a:rPr sz="1200" dirty="0"/>
              <a:t> weak linear (cyclic relationship)</a:t>
            </a:r>
          </a:p>
          <a:p>
            <a:pPr>
              <a:spcAft>
                <a:spcPts val="200"/>
              </a:spcAft>
              <a:defRPr sz="1100">
                <a:solidFill>
                  <a:srgbClr val="3C3C46"/>
                </a:solidFill>
              </a:defRPr>
            </a:pPr>
            <a:r>
              <a:rPr sz="1200" dirty="0"/>
              <a:t>    • </a:t>
            </a:r>
            <a:r>
              <a:rPr sz="1200" dirty="0" err="1"/>
              <a:t>rush_hour</a:t>
            </a:r>
            <a:r>
              <a:rPr sz="1200" dirty="0"/>
              <a:t> r=0.35 confirms importance</a:t>
            </a:r>
          </a:p>
        </p:txBody>
      </p:sp>
      <p:sp>
        <p:nvSpPr>
          <p:cNvPr id="7" name="Rectangle 6"/>
          <p:cNvSpPr/>
          <p:nvPr/>
        </p:nvSpPr>
        <p:spPr>
          <a:xfrm>
            <a:off x="0" y="6355080"/>
            <a:ext cx="12191695" cy="50292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6428232"/>
            <a:ext cx="3657600" cy="365760"/>
          </a:xfrm>
          <a:prstGeom prst="rect">
            <a:avLst/>
          </a:prstGeom>
          <a:noFill/>
        </p:spPr>
        <p:txBody>
          <a:bodyPr wrap="none">
            <a:spAutoFit/>
          </a:bodyPr>
          <a:lstStyle/>
          <a:p>
            <a:pPr>
              <a:defRPr sz="1100">
                <a:solidFill>
                  <a:srgbClr val="FFFFFF"/>
                </a:solidFill>
              </a:defRPr>
            </a:pPr>
            <a:r>
              <a:t>Slide 10</a:t>
            </a:r>
          </a:p>
        </p:txBody>
      </p:sp>
      <p:sp>
        <p:nvSpPr>
          <p:cNvPr id="9" name="TextBox 8"/>
          <p:cNvSpPr txBox="1"/>
          <p:nvPr/>
        </p:nvSpPr>
        <p:spPr>
          <a:xfrm>
            <a:off x="7581214" y="6428232"/>
            <a:ext cx="4305986" cy="261610"/>
          </a:xfrm>
          <a:prstGeom prst="rect">
            <a:avLst/>
          </a:prstGeom>
          <a:noFill/>
        </p:spPr>
        <p:txBody>
          <a:bodyPr wrap="none">
            <a:spAutoFit/>
          </a:bodyPr>
          <a:lstStyle/>
          <a:p>
            <a:pPr algn="r">
              <a:defRPr sz="1100">
                <a:solidFill>
                  <a:srgbClr val="FFFFFF"/>
                </a:solidFill>
              </a:defRPr>
            </a:pPr>
            <a:r>
              <a:rPr lang="fi-FI" dirty="0"/>
              <a:t>Naga Venkata Sai Ram Charan Pullabhotla</a:t>
            </a:r>
            <a:r>
              <a:rPr dirty="0"/>
              <a:t>  |  University of Hertfordshire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457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058400" cy="731520"/>
          </a:xfrm>
          <a:prstGeom prst="rect">
            <a:avLst/>
          </a:prstGeom>
          <a:noFill/>
        </p:spPr>
        <p:txBody>
          <a:bodyPr wrap="none">
            <a:spAutoFit/>
          </a:bodyPr>
          <a:lstStyle/>
          <a:p>
            <a:pPr>
              <a:defRPr sz="3000" b="1">
                <a:solidFill>
                  <a:srgbClr val="FFFFFF"/>
                </a:solidFill>
              </a:defRPr>
            </a:pPr>
            <a:r>
              <a:t>Model Architecture</a:t>
            </a:r>
          </a:p>
        </p:txBody>
      </p:sp>
      <p:pic>
        <p:nvPicPr>
          <p:cNvPr id="5" name="Picture 4" descr="06_sarima_forecast.png"/>
          <p:cNvPicPr>
            <a:picLocks noChangeAspect="1"/>
          </p:cNvPicPr>
          <p:nvPr/>
        </p:nvPicPr>
        <p:blipFill>
          <a:blip r:embed="rId3"/>
          <a:stretch>
            <a:fillRect/>
          </a:stretch>
        </p:blipFill>
        <p:spPr>
          <a:xfrm>
            <a:off x="5943600" y="1280160"/>
            <a:ext cx="5943600" cy="2082971"/>
          </a:xfrm>
          <a:prstGeom prst="rect">
            <a:avLst/>
          </a:prstGeom>
        </p:spPr>
      </p:pic>
      <p:sp>
        <p:nvSpPr>
          <p:cNvPr id="6" name="TextBox 5"/>
          <p:cNvSpPr txBox="1"/>
          <p:nvPr/>
        </p:nvSpPr>
        <p:spPr>
          <a:xfrm>
            <a:off x="365760" y="1371600"/>
            <a:ext cx="5394960" cy="4093428"/>
          </a:xfrm>
          <a:prstGeom prst="rect">
            <a:avLst/>
          </a:prstGeom>
          <a:noFill/>
        </p:spPr>
        <p:txBody>
          <a:bodyPr wrap="square">
            <a:spAutoFit/>
          </a:bodyPr>
          <a:lstStyle/>
          <a:p>
            <a:pPr>
              <a:spcBef>
                <a:spcPts val="800"/>
              </a:spcBef>
              <a:spcAft>
                <a:spcPts val="200"/>
              </a:spcAft>
              <a:defRPr sz="1400" b="1">
                <a:solidFill>
                  <a:srgbClr val="003366"/>
                </a:solidFill>
              </a:defRPr>
            </a:pPr>
            <a:r>
              <a:rPr sz="1400" dirty="0"/>
              <a:t>SARIMA — UNIVARIATE TIME SERIES</a:t>
            </a:r>
          </a:p>
          <a:p>
            <a:pPr>
              <a:spcAft>
                <a:spcPts val="200"/>
              </a:spcAft>
              <a:defRPr sz="1100">
                <a:solidFill>
                  <a:srgbClr val="3C3C46"/>
                </a:solidFill>
              </a:defRPr>
            </a:pPr>
            <a:r>
              <a:rPr sz="1200" dirty="0"/>
              <a:t>    • Equation: ARIMA(</a:t>
            </a:r>
            <a:r>
              <a:rPr sz="1200" dirty="0" err="1"/>
              <a:t>p,d,q</a:t>
            </a:r>
            <a:r>
              <a:rPr sz="1200" dirty="0"/>
              <a:t>)×(P,D,Q,s)</a:t>
            </a:r>
          </a:p>
          <a:p>
            <a:pPr>
              <a:spcAft>
                <a:spcPts val="200"/>
              </a:spcAft>
              <a:defRPr sz="1100">
                <a:solidFill>
                  <a:srgbClr val="3C3C46"/>
                </a:solidFill>
              </a:defRPr>
            </a:pPr>
            <a:r>
              <a:rPr sz="1200" dirty="0"/>
              <a:t>    • Baseline order: (1,1,1)×(1,1,1,24)</a:t>
            </a:r>
          </a:p>
          <a:p>
            <a:pPr>
              <a:spcAft>
                <a:spcPts val="200"/>
              </a:spcAft>
              <a:defRPr sz="1100">
                <a:solidFill>
                  <a:srgbClr val="3C3C46"/>
                </a:solidFill>
              </a:defRPr>
            </a:pPr>
            <a:r>
              <a:rPr sz="1200" dirty="0"/>
              <a:t>    • Tuned order: (2,1,1)×(1,0,0,24)</a:t>
            </a:r>
          </a:p>
          <a:p>
            <a:pPr>
              <a:spcAft>
                <a:spcPts val="200"/>
              </a:spcAft>
              <a:defRPr sz="1100">
                <a:solidFill>
                  <a:srgbClr val="3C3C46"/>
                </a:solidFill>
              </a:defRPr>
            </a:pPr>
            <a:r>
              <a:rPr sz="1200" dirty="0"/>
              <a:t>    • Captures trend (d=1) + daily seasonality</a:t>
            </a:r>
          </a:p>
          <a:p>
            <a:pPr>
              <a:spcAft>
                <a:spcPts val="200"/>
              </a:spcAft>
              <a:defRPr sz="1100">
                <a:solidFill>
                  <a:srgbClr val="3C3C46"/>
                </a:solidFill>
              </a:defRPr>
            </a:pPr>
            <a:r>
              <a:rPr sz="1200" dirty="0"/>
              <a:t>    • Uses only historical demand values</a:t>
            </a:r>
          </a:p>
          <a:p>
            <a:pPr>
              <a:spcAft>
                <a:spcPts val="200"/>
              </a:spcAft>
              <a:defRPr sz="1100">
                <a:solidFill>
                  <a:srgbClr val="3C3C46"/>
                </a:solidFill>
              </a:defRPr>
            </a:pPr>
            <a:endParaRPr sz="1400" dirty="0"/>
          </a:p>
          <a:p>
            <a:pPr>
              <a:spcBef>
                <a:spcPts val="800"/>
              </a:spcBef>
              <a:spcAft>
                <a:spcPts val="200"/>
              </a:spcAft>
              <a:defRPr sz="1400" b="1">
                <a:solidFill>
                  <a:srgbClr val="003366"/>
                </a:solidFill>
              </a:defRPr>
            </a:pPr>
            <a:r>
              <a:rPr sz="1400" dirty="0"/>
              <a:t>SARIMAX — WITH EXOGENOUS FEATURES</a:t>
            </a:r>
          </a:p>
          <a:p>
            <a:pPr>
              <a:spcAft>
                <a:spcPts val="200"/>
              </a:spcAft>
              <a:defRPr sz="1100">
                <a:solidFill>
                  <a:srgbClr val="3C3C46"/>
                </a:solidFill>
              </a:defRPr>
            </a:pPr>
            <a:r>
              <a:rPr sz="1200" dirty="0"/>
              <a:t>    • Same ARIMA structure + 11 external vars</a:t>
            </a:r>
          </a:p>
          <a:p>
            <a:pPr>
              <a:spcAft>
                <a:spcPts val="200"/>
              </a:spcAft>
              <a:defRPr sz="1100">
                <a:solidFill>
                  <a:srgbClr val="3C3C46"/>
                </a:solidFill>
              </a:defRPr>
            </a:pPr>
            <a:r>
              <a:rPr sz="1200" dirty="0"/>
              <a:t>    • </a:t>
            </a:r>
            <a:r>
              <a:rPr sz="1200" dirty="0" err="1"/>
              <a:t>Exog</a:t>
            </a:r>
            <a:r>
              <a:rPr sz="1200" dirty="0"/>
              <a:t>: temp, hum, windspeed, </a:t>
            </a:r>
            <a:r>
              <a:rPr sz="1200" dirty="0" err="1"/>
              <a:t>workingday</a:t>
            </a:r>
            <a:r>
              <a:rPr sz="1200" dirty="0"/>
              <a:t>, etc.</a:t>
            </a:r>
          </a:p>
          <a:p>
            <a:pPr>
              <a:spcAft>
                <a:spcPts val="200"/>
              </a:spcAft>
              <a:defRPr sz="1100">
                <a:solidFill>
                  <a:srgbClr val="3C3C46"/>
                </a:solidFill>
              </a:defRPr>
            </a:pPr>
            <a:r>
              <a:rPr sz="1200" dirty="0"/>
              <a:t>    • Tuned: ARIMAX(1,1,2), seasonality disabled</a:t>
            </a:r>
          </a:p>
          <a:p>
            <a:pPr>
              <a:spcAft>
                <a:spcPts val="200"/>
              </a:spcAft>
              <a:defRPr sz="1100">
                <a:solidFill>
                  <a:srgbClr val="3C3C46"/>
                </a:solidFill>
              </a:defRPr>
            </a:pPr>
            <a:r>
              <a:rPr sz="1200" dirty="0"/>
              <a:t>    • </a:t>
            </a:r>
            <a:r>
              <a:rPr sz="1200" dirty="0" err="1"/>
              <a:t>hr_sin</a:t>
            </a:r>
            <a:r>
              <a:rPr sz="1200" dirty="0"/>
              <a:t>/</a:t>
            </a:r>
            <a:r>
              <a:rPr sz="1200" dirty="0" err="1"/>
              <a:t>hr_cos</a:t>
            </a:r>
            <a:r>
              <a:rPr sz="1200" dirty="0"/>
              <a:t> absorb hourly patterns</a:t>
            </a:r>
          </a:p>
          <a:p>
            <a:pPr>
              <a:spcAft>
                <a:spcPts val="200"/>
              </a:spcAft>
              <a:defRPr sz="1100">
                <a:solidFill>
                  <a:srgbClr val="3C3C46"/>
                </a:solidFill>
              </a:defRPr>
            </a:pPr>
            <a:endParaRPr sz="1400" dirty="0"/>
          </a:p>
          <a:p>
            <a:pPr>
              <a:spcBef>
                <a:spcPts val="800"/>
              </a:spcBef>
              <a:spcAft>
                <a:spcPts val="200"/>
              </a:spcAft>
              <a:defRPr sz="1400" b="1">
                <a:solidFill>
                  <a:srgbClr val="003366"/>
                </a:solidFill>
              </a:defRPr>
            </a:pPr>
            <a:r>
              <a:rPr sz="1400" dirty="0"/>
              <a:t>XGBOOST — GRADIENT BOOSTED TREES</a:t>
            </a:r>
          </a:p>
          <a:p>
            <a:pPr>
              <a:spcAft>
                <a:spcPts val="200"/>
              </a:spcAft>
              <a:defRPr sz="1100">
                <a:solidFill>
                  <a:srgbClr val="3C3C46"/>
                </a:solidFill>
              </a:defRPr>
            </a:pPr>
            <a:r>
              <a:rPr sz="1200" dirty="0"/>
              <a:t>    • 16 features (weather + lag + rolling)</a:t>
            </a:r>
          </a:p>
          <a:p>
            <a:pPr>
              <a:spcAft>
                <a:spcPts val="200"/>
              </a:spcAft>
              <a:defRPr sz="1100">
                <a:solidFill>
                  <a:srgbClr val="3C3C46"/>
                </a:solidFill>
              </a:defRPr>
            </a:pPr>
            <a:r>
              <a:rPr sz="1200" dirty="0"/>
              <a:t>    • 1000 estimators, early stopping </a:t>
            </a:r>
            <a:r>
              <a:rPr sz="1200" dirty="0" err="1"/>
              <a:t>iter</a:t>
            </a:r>
            <a:r>
              <a:rPr sz="1200" dirty="0"/>
              <a:t> 324</a:t>
            </a:r>
          </a:p>
          <a:p>
            <a:pPr>
              <a:spcAft>
                <a:spcPts val="200"/>
              </a:spcAft>
              <a:defRPr sz="1100">
                <a:solidFill>
                  <a:srgbClr val="3C3C46"/>
                </a:solidFill>
              </a:defRPr>
            </a:pPr>
            <a:r>
              <a:rPr sz="1200" dirty="0"/>
              <a:t>    • Captures non-linear interactions natively</a:t>
            </a:r>
          </a:p>
        </p:txBody>
      </p:sp>
      <p:sp>
        <p:nvSpPr>
          <p:cNvPr id="7" name="Rectangle 6"/>
          <p:cNvSpPr/>
          <p:nvPr/>
        </p:nvSpPr>
        <p:spPr>
          <a:xfrm>
            <a:off x="0" y="6355080"/>
            <a:ext cx="12191695" cy="50292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6428232"/>
            <a:ext cx="3657600" cy="365760"/>
          </a:xfrm>
          <a:prstGeom prst="rect">
            <a:avLst/>
          </a:prstGeom>
          <a:noFill/>
        </p:spPr>
        <p:txBody>
          <a:bodyPr wrap="none">
            <a:spAutoFit/>
          </a:bodyPr>
          <a:lstStyle/>
          <a:p>
            <a:pPr>
              <a:defRPr sz="1100">
                <a:solidFill>
                  <a:srgbClr val="FFFFFF"/>
                </a:solidFill>
              </a:defRPr>
            </a:pPr>
            <a:r>
              <a:t>Slide 11</a:t>
            </a:r>
          </a:p>
        </p:txBody>
      </p:sp>
      <p:sp>
        <p:nvSpPr>
          <p:cNvPr id="9" name="TextBox 8"/>
          <p:cNvSpPr txBox="1"/>
          <p:nvPr/>
        </p:nvSpPr>
        <p:spPr>
          <a:xfrm>
            <a:off x="7581214" y="6428232"/>
            <a:ext cx="4305986" cy="261610"/>
          </a:xfrm>
          <a:prstGeom prst="rect">
            <a:avLst/>
          </a:prstGeom>
          <a:noFill/>
        </p:spPr>
        <p:txBody>
          <a:bodyPr wrap="none">
            <a:spAutoFit/>
          </a:bodyPr>
          <a:lstStyle/>
          <a:p>
            <a:pPr algn="r">
              <a:defRPr sz="1100">
                <a:solidFill>
                  <a:srgbClr val="FFFFFF"/>
                </a:solidFill>
              </a:defRPr>
            </a:pPr>
            <a:r>
              <a:rPr lang="fi-FI" dirty="0"/>
              <a:t>Naga Venkata Sai Ram Charan Pullabhotla</a:t>
            </a:r>
            <a:r>
              <a:rPr dirty="0"/>
              <a:t>  |  University of Hertfordshire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457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058400" cy="731520"/>
          </a:xfrm>
          <a:prstGeom prst="rect">
            <a:avLst/>
          </a:prstGeom>
          <a:noFill/>
        </p:spPr>
        <p:txBody>
          <a:bodyPr wrap="none">
            <a:spAutoFit/>
          </a:bodyPr>
          <a:lstStyle/>
          <a:p>
            <a:pPr>
              <a:defRPr sz="3000" b="1">
                <a:solidFill>
                  <a:srgbClr val="FFFFFF"/>
                </a:solidFill>
              </a:defRPr>
            </a:pPr>
            <a:r>
              <a:t>Model Performance Results</a:t>
            </a:r>
          </a:p>
        </p:txBody>
      </p:sp>
      <p:pic>
        <p:nvPicPr>
          <p:cNvPr id="5" name="Picture 4" descr="12_model_comparison.png"/>
          <p:cNvPicPr>
            <a:picLocks noChangeAspect="1"/>
          </p:cNvPicPr>
          <p:nvPr/>
        </p:nvPicPr>
        <p:blipFill>
          <a:blip r:embed="rId3"/>
          <a:stretch>
            <a:fillRect/>
          </a:stretch>
        </p:blipFill>
        <p:spPr>
          <a:xfrm>
            <a:off x="5943600" y="1280160"/>
            <a:ext cx="5943600" cy="1828224"/>
          </a:xfrm>
          <a:prstGeom prst="rect">
            <a:avLst/>
          </a:prstGeom>
        </p:spPr>
      </p:pic>
      <p:sp>
        <p:nvSpPr>
          <p:cNvPr id="6" name="TextBox 5"/>
          <p:cNvSpPr txBox="1"/>
          <p:nvPr/>
        </p:nvSpPr>
        <p:spPr>
          <a:xfrm>
            <a:off x="365760" y="1371600"/>
            <a:ext cx="5394960" cy="4514056"/>
          </a:xfrm>
          <a:prstGeom prst="rect">
            <a:avLst/>
          </a:prstGeom>
          <a:noFill/>
        </p:spPr>
        <p:txBody>
          <a:bodyPr wrap="square">
            <a:spAutoFit/>
          </a:bodyPr>
          <a:lstStyle/>
          <a:p>
            <a:pPr>
              <a:spcBef>
                <a:spcPts val="800"/>
              </a:spcBef>
              <a:spcAft>
                <a:spcPts val="200"/>
              </a:spcAft>
              <a:defRPr sz="1400" b="1">
                <a:solidFill>
                  <a:srgbClr val="003366"/>
                </a:solidFill>
              </a:defRPr>
            </a:pPr>
            <a:r>
              <a:rPr sz="1400" dirty="0"/>
              <a:t>BASELINE MODEL METRICS (BEFORE TUNING)</a:t>
            </a:r>
          </a:p>
          <a:p>
            <a:pPr>
              <a:spcAft>
                <a:spcPts val="200"/>
              </a:spcAft>
              <a:defRPr sz="1100">
                <a:solidFill>
                  <a:srgbClr val="3C3C46"/>
                </a:solidFill>
              </a:defRPr>
            </a:pPr>
            <a:r>
              <a:rPr sz="1200" dirty="0"/>
              <a:t>    • SARIMA: MAE=281.4, RMSE=343.6</a:t>
            </a:r>
          </a:p>
          <a:p>
            <a:pPr>
              <a:spcAft>
                <a:spcPts val="200"/>
              </a:spcAft>
              <a:defRPr sz="1100">
                <a:solidFill>
                  <a:srgbClr val="3C3C46"/>
                </a:solidFill>
              </a:defRPr>
            </a:pPr>
            <a:r>
              <a:rPr sz="1200" dirty="0"/>
              <a:t>      MAPE=15.3% (univariate only)</a:t>
            </a:r>
          </a:p>
          <a:p>
            <a:pPr>
              <a:spcAft>
                <a:spcPts val="200"/>
              </a:spcAft>
              <a:defRPr sz="1100">
                <a:solidFill>
                  <a:srgbClr val="3C3C46"/>
                </a:solidFill>
              </a:defRPr>
            </a:pPr>
            <a:r>
              <a:rPr sz="1200" dirty="0"/>
              <a:t>    • SARIMAX: MAE=214.1, RMSE=264.1</a:t>
            </a:r>
          </a:p>
          <a:p>
            <a:pPr>
              <a:spcAft>
                <a:spcPts val="200"/>
              </a:spcAft>
              <a:defRPr sz="1100">
                <a:solidFill>
                  <a:srgbClr val="3C3C46"/>
                </a:solidFill>
              </a:defRPr>
            </a:pPr>
            <a:r>
              <a:rPr sz="1200" dirty="0"/>
              <a:t>      MAPE=10.5% (24% improvement over SARIMA)</a:t>
            </a:r>
          </a:p>
          <a:p>
            <a:pPr>
              <a:spcAft>
                <a:spcPts val="200"/>
              </a:spcAft>
              <a:defRPr sz="1100">
                <a:solidFill>
                  <a:srgbClr val="3C3C46"/>
                </a:solidFill>
              </a:defRPr>
            </a:pPr>
            <a:r>
              <a:rPr sz="1200" dirty="0"/>
              <a:t>    • </a:t>
            </a:r>
            <a:r>
              <a:rPr sz="1200" dirty="0" err="1"/>
              <a:t>XGBoost</a:t>
            </a:r>
            <a:r>
              <a:rPr sz="1200" dirty="0"/>
              <a:t>: MAE=26.4, RMSE=41.7</a:t>
            </a:r>
          </a:p>
          <a:p>
            <a:pPr>
              <a:spcAft>
                <a:spcPts val="200"/>
              </a:spcAft>
              <a:defRPr sz="1100">
                <a:solidFill>
                  <a:srgbClr val="3C3C46"/>
                </a:solidFill>
              </a:defRPr>
            </a:pPr>
            <a:r>
              <a:rPr sz="1200" dirty="0"/>
              <a:t>      MAPE=0.32% (exceptional performance)</a:t>
            </a:r>
          </a:p>
          <a:p>
            <a:pPr>
              <a:spcAft>
                <a:spcPts val="200"/>
              </a:spcAft>
              <a:defRPr sz="1100">
                <a:solidFill>
                  <a:srgbClr val="3C3C46"/>
                </a:solidFill>
              </a:defRPr>
            </a:pPr>
            <a:endParaRPr sz="1400" dirty="0"/>
          </a:p>
          <a:p>
            <a:pPr>
              <a:spcBef>
                <a:spcPts val="800"/>
              </a:spcBef>
              <a:spcAft>
                <a:spcPts val="200"/>
              </a:spcAft>
              <a:defRPr sz="1400" b="1">
                <a:solidFill>
                  <a:srgbClr val="003366"/>
                </a:solidFill>
              </a:defRPr>
            </a:pPr>
            <a:r>
              <a:rPr sz="1400" dirty="0"/>
              <a:t>KEY PERFORMANCE OBSERVATIONS</a:t>
            </a:r>
          </a:p>
          <a:p>
            <a:pPr>
              <a:spcAft>
                <a:spcPts val="200"/>
              </a:spcAft>
              <a:defRPr sz="1100">
                <a:solidFill>
                  <a:srgbClr val="3C3C46"/>
                </a:solidFill>
              </a:defRPr>
            </a:pPr>
            <a:r>
              <a:rPr sz="1200" dirty="0"/>
              <a:t>    • </a:t>
            </a:r>
            <a:r>
              <a:rPr sz="1200" dirty="0" err="1"/>
              <a:t>XGBoost</a:t>
            </a:r>
            <a:r>
              <a:rPr sz="1200" dirty="0"/>
              <a:t> dramatically outperforms statistical</a:t>
            </a:r>
          </a:p>
          <a:p>
            <a:pPr>
              <a:spcAft>
                <a:spcPts val="200"/>
              </a:spcAft>
              <a:defRPr sz="1100">
                <a:solidFill>
                  <a:srgbClr val="3C3C46"/>
                </a:solidFill>
              </a:defRPr>
            </a:pPr>
            <a:r>
              <a:rPr sz="1200" dirty="0"/>
              <a:t>      models due to lag features + non-linearity</a:t>
            </a:r>
          </a:p>
          <a:p>
            <a:pPr>
              <a:spcAft>
                <a:spcPts val="200"/>
              </a:spcAft>
              <a:defRPr sz="1100">
                <a:solidFill>
                  <a:srgbClr val="3C3C46"/>
                </a:solidFill>
              </a:defRPr>
            </a:pPr>
            <a:r>
              <a:rPr sz="1200" dirty="0"/>
              <a:t>    • SARIMAX &gt; SARIMA: exogenous weather/</a:t>
            </a:r>
          </a:p>
          <a:p>
            <a:pPr>
              <a:spcAft>
                <a:spcPts val="200"/>
              </a:spcAft>
              <a:defRPr sz="1100">
                <a:solidFill>
                  <a:srgbClr val="3C3C46"/>
                </a:solidFill>
              </a:defRPr>
            </a:pPr>
            <a:r>
              <a:rPr sz="1200" dirty="0"/>
              <a:t>      calendar features add significant value</a:t>
            </a:r>
          </a:p>
          <a:p>
            <a:pPr>
              <a:spcAft>
                <a:spcPts val="200"/>
              </a:spcAft>
              <a:defRPr sz="1100">
                <a:solidFill>
                  <a:srgbClr val="3C3C46"/>
                </a:solidFill>
              </a:defRPr>
            </a:pPr>
            <a:r>
              <a:rPr sz="1200" dirty="0"/>
              <a:t>    • Test set: 1,738 hours (~72 days held out)</a:t>
            </a:r>
          </a:p>
          <a:p>
            <a:pPr>
              <a:spcAft>
                <a:spcPts val="200"/>
              </a:spcAft>
              <a:defRPr sz="1100">
                <a:solidFill>
                  <a:srgbClr val="3C3C46"/>
                </a:solidFill>
              </a:defRPr>
            </a:pPr>
            <a:endParaRPr sz="1400" dirty="0"/>
          </a:p>
          <a:p>
            <a:pPr>
              <a:spcBef>
                <a:spcPts val="800"/>
              </a:spcBef>
              <a:spcAft>
                <a:spcPts val="200"/>
              </a:spcAft>
              <a:defRPr sz="1400" b="1">
                <a:solidFill>
                  <a:srgbClr val="003366"/>
                </a:solidFill>
              </a:defRPr>
            </a:pPr>
            <a:r>
              <a:rPr sz="1400" dirty="0"/>
              <a:t>WHY XGBOOST EXCELS AT THIS TASK</a:t>
            </a:r>
          </a:p>
          <a:p>
            <a:pPr>
              <a:spcAft>
                <a:spcPts val="200"/>
              </a:spcAft>
              <a:defRPr sz="1100">
                <a:solidFill>
                  <a:srgbClr val="3C3C46"/>
                </a:solidFill>
              </a:defRPr>
            </a:pPr>
            <a:r>
              <a:rPr sz="1200" dirty="0"/>
              <a:t>    • lag_1h provides strong autocorrelation</a:t>
            </a:r>
          </a:p>
          <a:p>
            <a:pPr>
              <a:spcAft>
                <a:spcPts val="200"/>
              </a:spcAft>
              <a:defRPr sz="1100">
                <a:solidFill>
                  <a:srgbClr val="3C3C46"/>
                </a:solidFill>
              </a:defRPr>
            </a:pPr>
            <a:r>
              <a:rPr sz="1200" dirty="0"/>
              <a:t>    • Tree splits capture temp thresholds</a:t>
            </a:r>
          </a:p>
          <a:p>
            <a:pPr>
              <a:spcAft>
                <a:spcPts val="200"/>
              </a:spcAft>
              <a:defRPr sz="1100">
                <a:solidFill>
                  <a:srgbClr val="3C3C46"/>
                </a:solidFill>
              </a:defRPr>
            </a:pPr>
            <a:r>
              <a:rPr sz="1200" dirty="0"/>
              <a:t>    • Automatic interaction discovery</a:t>
            </a:r>
          </a:p>
        </p:txBody>
      </p:sp>
      <p:sp>
        <p:nvSpPr>
          <p:cNvPr id="7" name="Rectangle 6"/>
          <p:cNvSpPr/>
          <p:nvPr/>
        </p:nvSpPr>
        <p:spPr>
          <a:xfrm>
            <a:off x="0" y="6355080"/>
            <a:ext cx="12191695" cy="50292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6428232"/>
            <a:ext cx="3657600" cy="365760"/>
          </a:xfrm>
          <a:prstGeom prst="rect">
            <a:avLst/>
          </a:prstGeom>
          <a:noFill/>
        </p:spPr>
        <p:txBody>
          <a:bodyPr wrap="none">
            <a:spAutoFit/>
          </a:bodyPr>
          <a:lstStyle/>
          <a:p>
            <a:pPr>
              <a:defRPr sz="1100">
                <a:solidFill>
                  <a:srgbClr val="FFFFFF"/>
                </a:solidFill>
              </a:defRPr>
            </a:pPr>
            <a:r>
              <a:t>Slide 12</a:t>
            </a:r>
          </a:p>
        </p:txBody>
      </p:sp>
      <p:sp>
        <p:nvSpPr>
          <p:cNvPr id="9" name="TextBox 8"/>
          <p:cNvSpPr txBox="1"/>
          <p:nvPr/>
        </p:nvSpPr>
        <p:spPr>
          <a:xfrm>
            <a:off x="7581214" y="6428232"/>
            <a:ext cx="4305986" cy="261610"/>
          </a:xfrm>
          <a:prstGeom prst="rect">
            <a:avLst/>
          </a:prstGeom>
          <a:noFill/>
        </p:spPr>
        <p:txBody>
          <a:bodyPr wrap="none">
            <a:spAutoFit/>
          </a:bodyPr>
          <a:lstStyle/>
          <a:p>
            <a:pPr algn="r">
              <a:defRPr sz="1100">
                <a:solidFill>
                  <a:srgbClr val="FFFFFF"/>
                </a:solidFill>
              </a:defRPr>
            </a:pPr>
            <a:r>
              <a:rPr lang="fi-FI" dirty="0"/>
              <a:t>Naga Venkata Sai Ram Charan Pullabhotla</a:t>
            </a:r>
            <a:r>
              <a:rPr dirty="0"/>
              <a:t>  |  University of Hertfordshire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457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058400" cy="731520"/>
          </a:xfrm>
          <a:prstGeom prst="rect">
            <a:avLst/>
          </a:prstGeom>
          <a:noFill/>
        </p:spPr>
        <p:txBody>
          <a:bodyPr wrap="none">
            <a:spAutoFit/>
          </a:bodyPr>
          <a:lstStyle/>
          <a:p>
            <a:pPr>
              <a:defRPr sz="3000" b="1">
                <a:solidFill>
                  <a:srgbClr val="FFFFFF"/>
                </a:solidFill>
              </a:defRPr>
            </a:pPr>
            <a:r>
              <a:t>Hyperparameter Tuning Results</a:t>
            </a:r>
          </a:p>
        </p:txBody>
      </p:sp>
      <p:pic>
        <p:nvPicPr>
          <p:cNvPr id="5" name="Picture 4" descr="13_tuning_comparison.png"/>
          <p:cNvPicPr>
            <a:picLocks noChangeAspect="1"/>
          </p:cNvPicPr>
          <p:nvPr/>
        </p:nvPicPr>
        <p:blipFill>
          <a:blip r:embed="rId3"/>
          <a:stretch>
            <a:fillRect/>
          </a:stretch>
        </p:blipFill>
        <p:spPr>
          <a:xfrm>
            <a:off x="5943600" y="1280160"/>
            <a:ext cx="5943600" cy="1969385"/>
          </a:xfrm>
          <a:prstGeom prst="rect">
            <a:avLst/>
          </a:prstGeom>
        </p:spPr>
      </p:pic>
      <p:sp>
        <p:nvSpPr>
          <p:cNvPr id="6" name="TextBox 5"/>
          <p:cNvSpPr txBox="1"/>
          <p:nvPr/>
        </p:nvSpPr>
        <p:spPr>
          <a:xfrm>
            <a:off x="365760" y="1371600"/>
            <a:ext cx="4501804" cy="4124206"/>
          </a:xfrm>
          <a:prstGeom prst="rect">
            <a:avLst/>
          </a:prstGeom>
          <a:noFill/>
        </p:spPr>
        <p:txBody>
          <a:bodyPr wrap="square">
            <a:spAutoFit/>
          </a:bodyPr>
          <a:lstStyle/>
          <a:p>
            <a:pPr>
              <a:spcBef>
                <a:spcPts val="800"/>
              </a:spcBef>
              <a:spcAft>
                <a:spcPts val="200"/>
              </a:spcAft>
              <a:defRPr sz="1400" b="1">
                <a:solidFill>
                  <a:srgbClr val="003366"/>
                </a:solidFill>
              </a:defRPr>
            </a:pPr>
            <a:r>
              <a:rPr sz="1400" dirty="0"/>
              <a:t>SARIMA TUNING (ACF/PACF-INFORMED GRID)</a:t>
            </a:r>
          </a:p>
          <a:p>
            <a:pPr>
              <a:spcAft>
                <a:spcPts val="200"/>
              </a:spcAft>
              <a:defRPr sz="1100">
                <a:solidFill>
                  <a:srgbClr val="3C3C46"/>
                </a:solidFill>
              </a:defRPr>
            </a:pPr>
            <a:r>
              <a:rPr sz="1200" dirty="0"/>
              <a:t>    • Tested 3 candidate orders from ACF/PACF</a:t>
            </a:r>
          </a:p>
          <a:p>
            <a:pPr>
              <a:spcAft>
                <a:spcPts val="200"/>
              </a:spcAft>
              <a:defRPr sz="1100">
                <a:solidFill>
                  <a:srgbClr val="3C3C46"/>
                </a:solidFill>
              </a:defRPr>
            </a:pPr>
            <a:r>
              <a:rPr sz="1200" dirty="0"/>
              <a:t>    • Best: (2,1,1)×(1,0,0,24), AIC=174,092</a:t>
            </a:r>
          </a:p>
          <a:p>
            <a:pPr>
              <a:spcAft>
                <a:spcPts val="200"/>
              </a:spcAft>
              <a:defRPr sz="1100">
                <a:solidFill>
                  <a:srgbClr val="3C3C46"/>
                </a:solidFill>
              </a:defRPr>
            </a:pPr>
            <a:r>
              <a:rPr sz="1200" dirty="0"/>
              <a:t>    • Removed D=1 (seasonality already handled)</a:t>
            </a:r>
          </a:p>
          <a:p>
            <a:pPr>
              <a:spcAft>
                <a:spcPts val="200"/>
              </a:spcAft>
              <a:defRPr sz="1100">
                <a:solidFill>
                  <a:srgbClr val="3C3C46"/>
                </a:solidFill>
              </a:defRPr>
            </a:pPr>
            <a:r>
              <a:rPr sz="1200" dirty="0"/>
              <a:t>    • Result: MAE ↓37%, RMSE ↓40%</a:t>
            </a:r>
          </a:p>
          <a:p>
            <a:pPr>
              <a:spcAft>
                <a:spcPts val="200"/>
              </a:spcAft>
              <a:defRPr sz="1100">
                <a:solidFill>
                  <a:srgbClr val="3C3C46"/>
                </a:solidFill>
              </a:defRPr>
            </a:pPr>
            <a:endParaRPr sz="1400" dirty="0"/>
          </a:p>
          <a:p>
            <a:pPr>
              <a:spcBef>
                <a:spcPts val="800"/>
              </a:spcBef>
              <a:spcAft>
                <a:spcPts val="200"/>
              </a:spcAft>
              <a:defRPr sz="1400" b="1">
                <a:solidFill>
                  <a:srgbClr val="003366"/>
                </a:solidFill>
              </a:defRPr>
            </a:pPr>
            <a:r>
              <a:rPr sz="1400" dirty="0"/>
              <a:t>SARIMAX TUNING</a:t>
            </a:r>
          </a:p>
          <a:p>
            <a:pPr>
              <a:spcAft>
                <a:spcPts val="200"/>
              </a:spcAft>
              <a:defRPr sz="1100">
                <a:solidFill>
                  <a:srgbClr val="3C3C46"/>
                </a:solidFill>
              </a:defRPr>
            </a:pPr>
            <a:r>
              <a:rPr sz="1200" dirty="0"/>
              <a:t>    • Disabled seasonal components entirely</a:t>
            </a:r>
          </a:p>
          <a:p>
            <a:pPr>
              <a:spcAft>
                <a:spcPts val="200"/>
              </a:spcAft>
              <a:defRPr sz="1100">
                <a:solidFill>
                  <a:srgbClr val="3C3C46"/>
                </a:solidFill>
              </a:defRPr>
            </a:pPr>
            <a:r>
              <a:rPr sz="1200" dirty="0"/>
              <a:t>    • </a:t>
            </a:r>
            <a:r>
              <a:rPr sz="1200" dirty="0" err="1"/>
              <a:t>hr_sin</a:t>
            </a:r>
            <a:r>
              <a:rPr sz="1200" dirty="0"/>
              <a:t>/</a:t>
            </a:r>
            <a:r>
              <a:rPr sz="1200" dirty="0" err="1"/>
              <a:t>hr_cos</a:t>
            </a:r>
            <a:r>
              <a:rPr sz="1200" dirty="0"/>
              <a:t> features capture 24h cycle</a:t>
            </a:r>
          </a:p>
          <a:p>
            <a:pPr>
              <a:spcAft>
                <a:spcPts val="200"/>
              </a:spcAft>
              <a:defRPr sz="1100">
                <a:solidFill>
                  <a:srgbClr val="3C3C46"/>
                </a:solidFill>
              </a:defRPr>
            </a:pPr>
            <a:r>
              <a:rPr sz="1200" dirty="0"/>
              <a:t>    • Best: ARIMAX(1,1,2) with 11 exogenous</a:t>
            </a:r>
          </a:p>
          <a:p>
            <a:pPr>
              <a:spcAft>
                <a:spcPts val="200"/>
              </a:spcAft>
              <a:defRPr sz="1100">
                <a:solidFill>
                  <a:srgbClr val="3C3C46"/>
                </a:solidFill>
              </a:defRPr>
            </a:pPr>
            <a:r>
              <a:rPr sz="1200" dirty="0"/>
              <a:t>    • Result: MAE ↓32%, MAPE ↓43%</a:t>
            </a:r>
          </a:p>
          <a:p>
            <a:pPr>
              <a:spcAft>
                <a:spcPts val="200"/>
              </a:spcAft>
              <a:defRPr sz="1100">
                <a:solidFill>
                  <a:srgbClr val="3C3C46"/>
                </a:solidFill>
              </a:defRPr>
            </a:pPr>
            <a:endParaRPr sz="1400" dirty="0"/>
          </a:p>
          <a:p>
            <a:pPr>
              <a:spcBef>
                <a:spcPts val="800"/>
              </a:spcBef>
              <a:spcAft>
                <a:spcPts val="200"/>
              </a:spcAft>
              <a:defRPr sz="1400" b="1">
                <a:solidFill>
                  <a:srgbClr val="003366"/>
                </a:solidFill>
              </a:defRPr>
            </a:pPr>
            <a:r>
              <a:rPr sz="1400" dirty="0"/>
              <a:t>XGBOOST TUNING (RANDOMIZEDSEARCHCV)</a:t>
            </a:r>
          </a:p>
          <a:p>
            <a:pPr>
              <a:spcAft>
                <a:spcPts val="200"/>
              </a:spcAft>
              <a:defRPr sz="1100">
                <a:solidFill>
                  <a:srgbClr val="3C3C46"/>
                </a:solidFill>
              </a:defRPr>
            </a:pPr>
            <a:r>
              <a:rPr sz="1200" dirty="0"/>
              <a:t>    • 15 random iterations, 2-fold CV</a:t>
            </a:r>
          </a:p>
          <a:p>
            <a:pPr>
              <a:spcAft>
                <a:spcPts val="200"/>
              </a:spcAft>
              <a:defRPr sz="1100">
                <a:solidFill>
                  <a:srgbClr val="3C3C46"/>
                </a:solidFill>
              </a:defRPr>
            </a:pPr>
            <a:r>
              <a:rPr sz="1200" dirty="0"/>
              <a:t>    • Searched: </a:t>
            </a:r>
            <a:r>
              <a:rPr sz="1200" dirty="0" err="1"/>
              <a:t>n_est</a:t>
            </a:r>
            <a:r>
              <a:rPr sz="1200" dirty="0"/>
              <a:t>, depth, </a:t>
            </a:r>
            <a:r>
              <a:rPr sz="1200" dirty="0" err="1"/>
              <a:t>lr</a:t>
            </a:r>
            <a:r>
              <a:rPr sz="1200" dirty="0"/>
              <a:t>, subsample</a:t>
            </a:r>
          </a:p>
          <a:p>
            <a:pPr>
              <a:spcAft>
                <a:spcPts val="200"/>
              </a:spcAft>
              <a:defRPr sz="1100">
                <a:solidFill>
                  <a:srgbClr val="3C3C46"/>
                </a:solidFill>
              </a:defRPr>
            </a:pPr>
            <a:r>
              <a:rPr sz="1200" dirty="0"/>
              <a:t>    • Best: </a:t>
            </a:r>
            <a:r>
              <a:rPr sz="1200" dirty="0" err="1"/>
              <a:t>max_depth</a:t>
            </a:r>
            <a:r>
              <a:rPr sz="1200" dirty="0"/>
              <a:t>=5, </a:t>
            </a:r>
            <a:r>
              <a:rPr sz="1200" dirty="0" err="1"/>
              <a:t>learning_rate</a:t>
            </a:r>
            <a:r>
              <a:rPr sz="1200" dirty="0"/>
              <a:t>=0.15</a:t>
            </a:r>
          </a:p>
          <a:p>
            <a:pPr>
              <a:spcAft>
                <a:spcPts val="200"/>
              </a:spcAft>
              <a:defRPr sz="1100">
                <a:solidFill>
                  <a:srgbClr val="3C3C46"/>
                </a:solidFill>
              </a:defRPr>
            </a:pPr>
            <a:r>
              <a:rPr sz="1200" dirty="0"/>
              <a:t>    • Result: ~2% change (already well tuned)</a:t>
            </a:r>
          </a:p>
        </p:txBody>
      </p:sp>
      <p:sp>
        <p:nvSpPr>
          <p:cNvPr id="7" name="Rectangle 6"/>
          <p:cNvSpPr/>
          <p:nvPr/>
        </p:nvSpPr>
        <p:spPr>
          <a:xfrm>
            <a:off x="0" y="6355080"/>
            <a:ext cx="12191695" cy="50292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6428232"/>
            <a:ext cx="3657600" cy="365760"/>
          </a:xfrm>
          <a:prstGeom prst="rect">
            <a:avLst/>
          </a:prstGeom>
          <a:noFill/>
        </p:spPr>
        <p:txBody>
          <a:bodyPr wrap="none">
            <a:spAutoFit/>
          </a:bodyPr>
          <a:lstStyle/>
          <a:p>
            <a:pPr>
              <a:defRPr sz="1100">
                <a:solidFill>
                  <a:srgbClr val="FFFFFF"/>
                </a:solidFill>
              </a:defRPr>
            </a:pPr>
            <a:r>
              <a:t>Slide 13</a:t>
            </a:r>
          </a:p>
        </p:txBody>
      </p:sp>
      <p:sp>
        <p:nvSpPr>
          <p:cNvPr id="9" name="TextBox 8"/>
          <p:cNvSpPr txBox="1"/>
          <p:nvPr/>
        </p:nvSpPr>
        <p:spPr>
          <a:xfrm>
            <a:off x="7581214" y="6428232"/>
            <a:ext cx="4305986" cy="261610"/>
          </a:xfrm>
          <a:prstGeom prst="rect">
            <a:avLst/>
          </a:prstGeom>
          <a:noFill/>
        </p:spPr>
        <p:txBody>
          <a:bodyPr wrap="none">
            <a:spAutoFit/>
          </a:bodyPr>
          <a:lstStyle/>
          <a:p>
            <a:pPr algn="r">
              <a:defRPr sz="1100">
                <a:solidFill>
                  <a:srgbClr val="FFFFFF"/>
                </a:solidFill>
              </a:defRPr>
            </a:pPr>
            <a:r>
              <a:rPr lang="fi-FI" dirty="0"/>
              <a:t>Naga Venkata Sai Ram Charan Pullabhotla</a:t>
            </a:r>
            <a:r>
              <a:rPr dirty="0"/>
              <a:t>  |  University of Hertfordshire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457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058400" cy="731520"/>
          </a:xfrm>
          <a:prstGeom prst="rect">
            <a:avLst/>
          </a:prstGeom>
          <a:noFill/>
        </p:spPr>
        <p:txBody>
          <a:bodyPr wrap="none">
            <a:spAutoFit/>
          </a:bodyPr>
          <a:lstStyle/>
          <a:p>
            <a:pPr>
              <a:defRPr sz="3000" b="1">
                <a:solidFill>
                  <a:srgbClr val="FFFFFF"/>
                </a:solidFill>
              </a:defRPr>
            </a:pPr>
            <a:r>
              <a:t>Analysis &amp; Discussion</a:t>
            </a:r>
          </a:p>
        </p:txBody>
      </p:sp>
      <p:pic>
        <p:nvPicPr>
          <p:cNvPr id="5" name="Picture 4" descr="11_xgboost_forecast.png"/>
          <p:cNvPicPr>
            <a:picLocks noChangeAspect="1"/>
          </p:cNvPicPr>
          <p:nvPr/>
        </p:nvPicPr>
        <p:blipFill>
          <a:blip r:embed="rId3"/>
          <a:stretch>
            <a:fillRect/>
          </a:stretch>
        </p:blipFill>
        <p:spPr>
          <a:xfrm>
            <a:off x="5943600" y="1280160"/>
            <a:ext cx="5943600" cy="2082971"/>
          </a:xfrm>
          <a:prstGeom prst="rect">
            <a:avLst/>
          </a:prstGeom>
        </p:spPr>
      </p:pic>
      <p:sp>
        <p:nvSpPr>
          <p:cNvPr id="6" name="TextBox 5"/>
          <p:cNvSpPr txBox="1"/>
          <p:nvPr/>
        </p:nvSpPr>
        <p:spPr>
          <a:xfrm>
            <a:off x="365760" y="1371600"/>
            <a:ext cx="5394960" cy="4242187"/>
          </a:xfrm>
          <a:prstGeom prst="rect">
            <a:avLst/>
          </a:prstGeom>
          <a:noFill/>
        </p:spPr>
        <p:txBody>
          <a:bodyPr wrap="square">
            <a:spAutoFit/>
          </a:bodyPr>
          <a:lstStyle/>
          <a:p>
            <a:pPr>
              <a:spcBef>
                <a:spcPts val="800"/>
              </a:spcBef>
              <a:spcAft>
                <a:spcPts val="200"/>
              </a:spcAft>
              <a:defRPr sz="1400" b="1">
                <a:solidFill>
                  <a:srgbClr val="003366"/>
                </a:solidFill>
              </a:defRPr>
            </a:pPr>
            <a:r>
              <a:rPr sz="1400" dirty="0"/>
              <a:t>PERFORMANCE ASSESSMENT SUMMARY</a:t>
            </a:r>
          </a:p>
          <a:p>
            <a:pPr>
              <a:spcAft>
                <a:spcPts val="200"/>
              </a:spcAft>
              <a:defRPr sz="1100">
                <a:solidFill>
                  <a:srgbClr val="3C3C46"/>
                </a:solidFill>
              </a:defRPr>
            </a:pPr>
            <a:r>
              <a:rPr sz="1400" dirty="0"/>
              <a:t>    </a:t>
            </a:r>
            <a:r>
              <a:rPr sz="1200" dirty="0"/>
              <a:t>• </a:t>
            </a:r>
            <a:r>
              <a:rPr sz="1200" dirty="0" err="1"/>
              <a:t>XGBoost</a:t>
            </a:r>
            <a:r>
              <a:rPr sz="1200" dirty="0"/>
              <a:t> achieves exceptional accuracy:</a:t>
            </a:r>
          </a:p>
          <a:p>
            <a:pPr>
              <a:spcAft>
                <a:spcPts val="200"/>
              </a:spcAft>
              <a:defRPr sz="1100">
                <a:solidFill>
                  <a:srgbClr val="3C3C46"/>
                </a:solidFill>
              </a:defRPr>
            </a:pPr>
            <a:r>
              <a:rPr sz="1200" dirty="0"/>
              <a:t>      MAE=26.4 bikes, MAPE=0.32%</a:t>
            </a:r>
          </a:p>
          <a:p>
            <a:pPr>
              <a:spcAft>
                <a:spcPts val="200"/>
              </a:spcAft>
              <a:defRPr sz="1100">
                <a:solidFill>
                  <a:srgbClr val="3C3C46"/>
                </a:solidFill>
              </a:defRPr>
            </a:pPr>
            <a:r>
              <a:rPr sz="1200" dirty="0"/>
              <a:t>    • Tuned SARIMAX: MAE=145.5, MAPE=5.98%</a:t>
            </a:r>
          </a:p>
          <a:p>
            <a:pPr>
              <a:spcAft>
                <a:spcPts val="200"/>
              </a:spcAft>
              <a:defRPr sz="1100">
                <a:solidFill>
                  <a:srgbClr val="3C3C46"/>
                </a:solidFill>
              </a:defRPr>
            </a:pPr>
            <a:r>
              <a:rPr sz="1200" dirty="0"/>
              <a:t>    • Statistical models improved 30-43% after</a:t>
            </a:r>
          </a:p>
          <a:p>
            <a:pPr>
              <a:spcAft>
                <a:spcPts val="200"/>
              </a:spcAft>
              <a:defRPr sz="1100">
                <a:solidFill>
                  <a:srgbClr val="3C3C46"/>
                </a:solidFill>
              </a:defRPr>
            </a:pPr>
            <a:r>
              <a:rPr sz="1200" dirty="0"/>
              <a:t>      proper hyperparameter tuning</a:t>
            </a:r>
          </a:p>
          <a:p>
            <a:pPr>
              <a:spcAft>
                <a:spcPts val="200"/>
              </a:spcAft>
              <a:defRPr sz="1100">
                <a:solidFill>
                  <a:srgbClr val="3C3C46"/>
                </a:solidFill>
              </a:defRPr>
            </a:pPr>
            <a:endParaRPr sz="1400" dirty="0"/>
          </a:p>
          <a:p>
            <a:pPr>
              <a:spcBef>
                <a:spcPts val="800"/>
              </a:spcBef>
              <a:spcAft>
                <a:spcPts val="200"/>
              </a:spcAft>
              <a:defRPr sz="1400" b="1">
                <a:solidFill>
                  <a:srgbClr val="003366"/>
                </a:solidFill>
              </a:defRPr>
            </a:pPr>
            <a:r>
              <a:rPr sz="1400" dirty="0"/>
              <a:t>ROOT CAUSES OF XGBOOST SUPERIORITY</a:t>
            </a:r>
          </a:p>
          <a:p>
            <a:pPr>
              <a:spcAft>
                <a:spcPts val="200"/>
              </a:spcAft>
              <a:defRPr sz="1100">
                <a:solidFill>
                  <a:srgbClr val="3C3C46"/>
                </a:solidFill>
              </a:defRPr>
            </a:pPr>
            <a:r>
              <a:rPr sz="1200" dirty="0"/>
              <a:t>    • lag_1h, lag_24h are strongest predictors —</a:t>
            </a:r>
          </a:p>
          <a:p>
            <a:pPr>
              <a:spcAft>
                <a:spcPts val="200"/>
              </a:spcAft>
              <a:defRPr sz="1100">
                <a:solidFill>
                  <a:srgbClr val="3C3C46"/>
                </a:solidFill>
              </a:defRPr>
            </a:pPr>
            <a:r>
              <a:rPr sz="1200" dirty="0"/>
              <a:t>      demand is highly autocorrelated</a:t>
            </a:r>
          </a:p>
          <a:p>
            <a:pPr>
              <a:spcAft>
                <a:spcPts val="200"/>
              </a:spcAft>
              <a:defRPr sz="1100">
                <a:solidFill>
                  <a:srgbClr val="3C3C46"/>
                </a:solidFill>
              </a:defRPr>
            </a:pPr>
            <a:r>
              <a:rPr sz="1200" dirty="0"/>
              <a:t>    • Tree models automatically capture non-linear</a:t>
            </a:r>
          </a:p>
          <a:p>
            <a:pPr>
              <a:spcAft>
                <a:spcPts val="200"/>
              </a:spcAft>
              <a:defRPr sz="1100">
                <a:solidFill>
                  <a:srgbClr val="3C3C46"/>
                </a:solidFill>
              </a:defRPr>
            </a:pPr>
            <a:r>
              <a:rPr sz="1200" dirty="0"/>
              <a:t>      weather effects (temp thresholds, interactions)</a:t>
            </a:r>
          </a:p>
          <a:p>
            <a:pPr>
              <a:spcAft>
                <a:spcPts val="200"/>
              </a:spcAft>
              <a:defRPr sz="1100">
                <a:solidFill>
                  <a:srgbClr val="3C3C46"/>
                </a:solidFill>
              </a:defRPr>
            </a:pPr>
            <a:r>
              <a:rPr sz="1200" dirty="0"/>
              <a:t>    • No manual differencing or order selection</a:t>
            </a:r>
          </a:p>
          <a:p>
            <a:pPr>
              <a:spcAft>
                <a:spcPts val="200"/>
              </a:spcAft>
              <a:defRPr sz="1100">
                <a:solidFill>
                  <a:srgbClr val="3C3C46"/>
                </a:solidFill>
              </a:defRPr>
            </a:pPr>
            <a:endParaRPr sz="1400" dirty="0"/>
          </a:p>
          <a:p>
            <a:pPr>
              <a:spcBef>
                <a:spcPts val="800"/>
              </a:spcBef>
              <a:spcAft>
                <a:spcPts val="200"/>
              </a:spcAft>
              <a:defRPr sz="1400" b="1">
                <a:solidFill>
                  <a:srgbClr val="003366"/>
                </a:solidFill>
              </a:defRPr>
            </a:pPr>
            <a:r>
              <a:rPr sz="1400" dirty="0"/>
              <a:t>IDENTIFIED LIMITATIONS</a:t>
            </a:r>
          </a:p>
          <a:p>
            <a:pPr>
              <a:spcAft>
                <a:spcPts val="200"/>
              </a:spcAft>
              <a:defRPr sz="1100">
                <a:solidFill>
                  <a:srgbClr val="3C3C46"/>
                </a:solidFill>
              </a:defRPr>
            </a:pPr>
            <a:r>
              <a:rPr sz="1200" dirty="0"/>
              <a:t>    • SARIMA/SARIMAX slow with s=24 (24-hour state)</a:t>
            </a:r>
          </a:p>
          <a:p>
            <a:pPr>
              <a:spcAft>
                <a:spcPts val="200"/>
              </a:spcAft>
              <a:defRPr sz="1100">
                <a:solidFill>
                  <a:srgbClr val="3C3C46"/>
                </a:solidFill>
              </a:defRPr>
            </a:pPr>
            <a:r>
              <a:rPr sz="1200" dirty="0"/>
              <a:t>    • </a:t>
            </a:r>
            <a:r>
              <a:rPr sz="1200" dirty="0" err="1"/>
              <a:t>XGBoost</a:t>
            </a:r>
            <a:r>
              <a:rPr sz="1200" dirty="0"/>
              <a:t> requires recent lag values at inference</a:t>
            </a:r>
          </a:p>
          <a:p>
            <a:pPr>
              <a:spcAft>
                <a:spcPts val="200"/>
              </a:spcAft>
              <a:defRPr sz="1100">
                <a:solidFill>
                  <a:srgbClr val="3C3C46"/>
                </a:solidFill>
              </a:defRPr>
            </a:pPr>
            <a:r>
              <a:rPr sz="1200" dirty="0"/>
              <a:t>    • Pre-COVID data (2011-12) may not generalize</a:t>
            </a:r>
          </a:p>
        </p:txBody>
      </p:sp>
      <p:sp>
        <p:nvSpPr>
          <p:cNvPr id="7" name="Rectangle 6"/>
          <p:cNvSpPr/>
          <p:nvPr/>
        </p:nvSpPr>
        <p:spPr>
          <a:xfrm>
            <a:off x="0" y="6355080"/>
            <a:ext cx="12191695" cy="50292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6428232"/>
            <a:ext cx="3657600" cy="365760"/>
          </a:xfrm>
          <a:prstGeom prst="rect">
            <a:avLst/>
          </a:prstGeom>
          <a:noFill/>
        </p:spPr>
        <p:txBody>
          <a:bodyPr wrap="none">
            <a:spAutoFit/>
          </a:bodyPr>
          <a:lstStyle/>
          <a:p>
            <a:pPr>
              <a:defRPr sz="1100">
                <a:solidFill>
                  <a:srgbClr val="FFFFFF"/>
                </a:solidFill>
              </a:defRPr>
            </a:pPr>
            <a:r>
              <a:t>Slide 14</a:t>
            </a:r>
          </a:p>
        </p:txBody>
      </p:sp>
      <p:sp>
        <p:nvSpPr>
          <p:cNvPr id="9" name="TextBox 8"/>
          <p:cNvSpPr txBox="1"/>
          <p:nvPr/>
        </p:nvSpPr>
        <p:spPr>
          <a:xfrm>
            <a:off x="7581214" y="6428232"/>
            <a:ext cx="4305986" cy="261610"/>
          </a:xfrm>
          <a:prstGeom prst="rect">
            <a:avLst/>
          </a:prstGeom>
          <a:noFill/>
        </p:spPr>
        <p:txBody>
          <a:bodyPr wrap="none">
            <a:spAutoFit/>
          </a:bodyPr>
          <a:lstStyle/>
          <a:p>
            <a:pPr algn="r">
              <a:defRPr sz="1100">
                <a:solidFill>
                  <a:srgbClr val="FFFFFF"/>
                </a:solidFill>
              </a:defRPr>
            </a:pPr>
            <a:r>
              <a:rPr lang="fi-FI" dirty="0"/>
              <a:t>Naga Venkata Sai Ram Charan Pullabhotla</a:t>
            </a:r>
            <a:r>
              <a:rPr dirty="0"/>
              <a:t>  |  University of Hertfordshire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457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058400" cy="731520"/>
          </a:xfrm>
          <a:prstGeom prst="rect">
            <a:avLst/>
          </a:prstGeom>
          <a:noFill/>
        </p:spPr>
        <p:txBody>
          <a:bodyPr wrap="none">
            <a:spAutoFit/>
          </a:bodyPr>
          <a:lstStyle/>
          <a:p>
            <a:pPr>
              <a:defRPr sz="3000" b="1">
                <a:solidFill>
                  <a:srgbClr val="FFFFFF"/>
                </a:solidFill>
              </a:defRPr>
            </a:pPr>
            <a:r>
              <a:t>Conclusion</a:t>
            </a:r>
          </a:p>
        </p:txBody>
      </p:sp>
      <p:pic>
        <p:nvPicPr>
          <p:cNvPr id="5" name="Picture 4" descr="10_xgboost_learning.png"/>
          <p:cNvPicPr>
            <a:picLocks noChangeAspect="1"/>
          </p:cNvPicPr>
          <p:nvPr/>
        </p:nvPicPr>
        <p:blipFill>
          <a:blip r:embed="rId3"/>
          <a:stretch>
            <a:fillRect/>
          </a:stretch>
        </p:blipFill>
        <p:spPr>
          <a:xfrm>
            <a:off x="5943600" y="1280160"/>
            <a:ext cx="5943600" cy="2433443"/>
          </a:xfrm>
          <a:prstGeom prst="rect">
            <a:avLst/>
          </a:prstGeom>
        </p:spPr>
      </p:pic>
      <p:sp>
        <p:nvSpPr>
          <p:cNvPr id="6" name="TextBox 5"/>
          <p:cNvSpPr txBox="1"/>
          <p:nvPr/>
        </p:nvSpPr>
        <p:spPr>
          <a:xfrm>
            <a:off x="365760" y="1371600"/>
            <a:ext cx="5394960" cy="4242187"/>
          </a:xfrm>
          <a:prstGeom prst="rect">
            <a:avLst/>
          </a:prstGeom>
          <a:noFill/>
        </p:spPr>
        <p:txBody>
          <a:bodyPr wrap="square">
            <a:spAutoFit/>
          </a:bodyPr>
          <a:lstStyle/>
          <a:p>
            <a:pPr>
              <a:spcBef>
                <a:spcPts val="800"/>
              </a:spcBef>
              <a:spcAft>
                <a:spcPts val="200"/>
              </a:spcAft>
              <a:defRPr sz="1400" b="1">
                <a:solidFill>
                  <a:srgbClr val="003366"/>
                </a:solidFill>
              </a:defRPr>
            </a:pPr>
            <a:r>
              <a:rPr sz="1400" dirty="0"/>
              <a:t>SUMMARY OF KEY FINDINGS</a:t>
            </a:r>
          </a:p>
          <a:p>
            <a:pPr>
              <a:spcAft>
                <a:spcPts val="200"/>
              </a:spcAft>
              <a:defRPr sz="1100">
                <a:solidFill>
                  <a:srgbClr val="3C3C46"/>
                </a:solidFill>
              </a:defRPr>
            </a:pPr>
            <a:r>
              <a:rPr sz="1200" dirty="0"/>
              <a:t>    • Successfully compared 3 forecasting approaches</a:t>
            </a:r>
          </a:p>
          <a:p>
            <a:pPr>
              <a:spcAft>
                <a:spcPts val="200"/>
              </a:spcAft>
              <a:defRPr sz="1100">
                <a:solidFill>
                  <a:srgbClr val="3C3C46"/>
                </a:solidFill>
              </a:defRPr>
            </a:pPr>
            <a:r>
              <a:rPr sz="1200" dirty="0"/>
              <a:t>      on hourly bike sharing demand prediction</a:t>
            </a:r>
          </a:p>
          <a:p>
            <a:pPr>
              <a:spcAft>
                <a:spcPts val="200"/>
              </a:spcAft>
              <a:defRPr sz="1100">
                <a:solidFill>
                  <a:srgbClr val="3C3C46"/>
                </a:solidFill>
              </a:defRPr>
            </a:pPr>
            <a:r>
              <a:rPr sz="1200" dirty="0"/>
              <a:t>    • </a:t>
            </a:r>
            <a:r>
              <a:rPr sz="1200" dirty="0" err="1"/>
              <a:t>XGBoost</a:t>
            </a:r>
            <a:r>
              <a:rPr sz="1200" dirty="0"/>
              <a:t> with lag features achieves best overall</a:t>
            </a:r>
          </a:p>
          <a:p>
            <a:pPr>
              <a:spcAft>
                <a:spcPts val="200"/>
              </a:spcAft>
              <a:defRPr sz="1100">
                <a:solidFill>
                  <a:srgbClr val="3C3C46"/>
                </a:solidFill>
              </a:defRPr>
            </a:pPr>
            <a:r>
              <a:rPr sz="1200" dirty="0"/>
              <a:t>      performance (MAPE: 0.32%, MAE: 26.4 bikes)</a:t>
            </a:r>
          </a:p>
          <a:p>
            <a:pPr>
              <a:spcAft>
                <a:spcPts val="200"/>
              </a:spcAft>
              <a:defRPr sz="1100">
                <a:solidFill>
                  <a:srgbClr val="3C3C46"/>
                </a:solidFill>
              </a:defRPr>
            </a:pPr>
            <a:r>
              <a:rPr sz="1200" dirty="0"/>
              <a:t>    • Hyperparameter tuning improved SARIMA by 40%</a:t>
            </a:r>
          </a:p>
          <a:p>
            <a:pPr>
              <a:spcAft>
                <a:spcPts val="200"/>
              </a:spcAft>
              <a:defRPr sz="1100">
                <a:solidFill>
                  <a:srgbClr val="3C3C46"/>
                </a:solidFill>
              </a:defRPr>
            </a:pPr>
            <a:r>
              <a:rPr sz="1200" dirty="0"/>
              <a:t>      and SARIMAX by 43% through proper order selection</a:t>
            </a:r>
          </a:p>
          <a:p>
            <a:pPr>
              <a:spcAft>
                <a:spcPts val="200"/>
              </a:spcAft>
              <a:defRPr sz="1100">
                <a:solidFill>
                  <a:srgbClr val="3C3C46"/>
                </a:solidFill>
              </a:defRPr>
            </a:pPr>
            <a:endParaRPr sz="1400" dirty="0"/>
          </a:p>
          <a:p>
            <a:pPr>
              <a:spcBef>
                <a:spcPts val="800"/>
              </a:spcBef>
              <a:spcAft>
                <a:spcPts val="200"/>
              </a:spcAft>
              <a:defRPr sz="1400" b="1">
                <a:solidFill>
                  <a:srgbClr val="003366"/>
                </a:solidFill>
              </a:defRPr>
            </a:pPr>
            <a:r>
              <a:rPr sz="1400" dirty="0"/>
              <a:t>HEADLINE RESULTS</a:t>
            </a:r>
          </a:p>
          <a:p>
            <a:pPr>
              <a:spcAft>
                <a:spcPts val="200"/>
              </a:spcAft>
              <a:defRPr sz="1100">
                <a:solidFill>
                  <a:srgbClr val="3C3C46"/>
                </a:solidFill>
              </a:defRPr>
            </a:pPr>
            <a:r>
              <a:rPr sz="1200" dirty="0"/>
              <a:t>    • Best overall: </a:t>
            </a:r>
            <a:r>
              <a:rPr sz="1200" dirty="0" err="1"/>
              <a:t>XGBoost</a:t>
            </a:r>
            <a:r>
              <a:rPr sz="1200" dirty="0"/>
              <a:t> (MAPE: 0.32%)</a:t>
            </a:r>
          </a:p>
          <a:p>
            <a:pPr>
              <a:spcAft>
                <a:spcPts val="200"/>
              </a:spcAft>
              <a:defRPr sz="1100">
                <a:solidFill>
                  <a:srgbClr val="3C3C46"/>
                </a:solidFill>
              </a:defRPr>
            </a:pPr>
            <a:r>
              <a:rPr sz="1200" dirty="0"/>
              <a:t>    • Best time series: Tuned SARIMAX (MAPE: 5.98%)</a:t>
            </a:r>
          </a:p>
          <a:p>
            <a:pPr>
              <a:spcAft>
                <a:spcPts val="200"/>
              </a:spcAft>
              <a:defRPr sz="1100">
                <a:solidFill>
                  <a:srgbClr val="3C3C46"/>
                </a:solidFill>
              </a:defRPr>
            </a:pPr>
            <a:r>
              <a:rPr sz="1200" dirty="0"/>
              <a:t>    • Lag features are single most important predictor</a:t>
            </a:r>
          </a:p>
          <a:p>
            <a:pPr>
              <a:spcAft>
                <a:spcPts val="200"/>
              </a:spcAft>
              <a:defRPr sz="1100">
                <a:solidFill>
                  <a:srgbClr val="3C3C46"/>
                </a:solidFill>
              </a:defRPr>
            </a:pPr>
            <a:r>
              <a:rPr sz="1200" dirty="0"/>
              <a:t>    • Cyclical hour encoding improves SARIMAX 7%</a:t>
            </a:r>
          </a:p>
          <a:p>
            <a:pPr>
              <a:spcAft>
                <a:spcPts val="200"/>
              </a:spcAft>
              <a:defRPr sz="1100">
                <a:solidFill>
                  <a:srgbClr val="3C3C46"/>
                </a:solidFill>
              </a:defRPr>
            </a:pPr>
            <a:endParaRPr sz="1400" dirty="0"/>
          </a:p>
          <a:p>
            <a:pPr>
              <a:spcBef>
                <a:spcPts val="800"/>
              </a:spcBef>
              <a:spcAft>
                <a:spcPts val="200"/>
              </a:spcAft>
              <a:defRPr sz="1400" b="1">
                <a:solidFill>
                  <a:srgbClr val="003366"/>
                </a:solidFill>
              </a:defRPr>
            </a:pPr>
            <a:r>
              <a:rPr sz="1400" dirty="0"/>
              <a:t>RECOMMENDATIONS FOR FUTURE WORK</a:t>
            </a:r>
            <a:endParaRPr lang="en-IN" sz="1400" dirty="0"/>
          </a:p>
          <a:p>
            <a:pPr>
              <a:spcAft>
                <a:spcPts val="200"/>
              </a:spcAft>
              <a:defRPr sz="1100">
                <a:solidFill>
                  <a:srgbClr val="3C3C46"/>
                </a:solidFill>
              </a:defRPr>
            </a:pPr>
            <a:r>
              <a:rPr lang="en-IN" sz="1200" dirty="0"/>
              <a:t>    • Explore other models like ML/DL/Prophet</a:t>
            </a:r>
          </a:p>
          <a:p>
            <a:pPr>
              <a:spcAft>
                <a:spcPts val="200"/>
              </a:spcAft>
              <a:defRPr sz="1100">
                <a:solidFill>
                  <a:srgbClr val="3C3C46"/>
                </a:solidFill>
              </a:defRPr>
            </a:pPr>
            <a:r>
              <a:rPr lang="en-IN" sz="1200" dirty="0"/>
              <a:t>    • Explore fine tuning techniques.</a:t>
            </a:r>
          </a:p>
          <a:p>
            <a:pPr>
              <a:spcAft>
                <a:spcPts val="200"/>
              </a:spcAft>
              <a:defRPr sz="1100">
                <a:solidFill>
                  <a:srgbClr val="3C3C46"/>
                </a:solidFill>
              </a:defRPr>
            </a:pPr>
            <a:r>
              <a:rPr sz="1400" dirty="0"/>
              <a:t>  </a:t>
            </a:r>
          </a:p>
        </p:txBody>
      </p:sp>
      <p:sp>
        <p:nvSpPr>
          <p:cNvPr id="7" name="Rectangle 6"/>
          <p:cNvSpPr/>
          <p:nvPr/>
        </p:nvSpPr>
        <p:spPr>
          <a:xfrm>
            <a:off x="0" y="6355080"/>
            <a:ext cx="12191695" cy="50292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6428232"/>
            <a:ext cx="3657600" cy="365760"/>
          </a:xfrm>
          <a:prstGeom prst="rect">
            <a:avLst/>
          </a:prstGeom>
          <a:noFill/>
        </p:spPr>
        <p:txBody>
          <a:bodyPr wrap="none">
            <a:spAutoFit/>
          </a:bodyPr>
          <a:lstStyle/>
          <a:p>
            <a:pPr>
              <a:defRPr sz="1100">
                <a:solidFill>
                  <a:srgbClr val="FFFFFF"/>
                </a:solidFill>
              </a:defRPr>
            </a:pPr>
            <a:r>
              <a:t>Slide 15</a:t>
            </a:r>
          </a:p>
        </p:txBody>
      </p:sp>
      <p:sp>
        <p:nvSpPr>
          <p:cNvPr id="9" name="TextBox 8"/>
          <p:cNvSpPr txBox="1"/>
          <p:nvPr/>
        </p:nvSpPr>
        <p:spPr>
          <a:xfrm>
            <a:off x="7581214" y="6428232"/>
            <a:ext cx="4305986" cy="261610"/>
          </a:xfrm>
          <a:prstGeom prst="rect">
            <a:avLst/>
          </a:prstGeom>
          <a:noFill/>
        </p:spPr>
        <p:txBody>
          <a:bodyPr wrap="none">
            <a:spAutoFit/>
          </a:bodyPr>
          <a:lstStyle/>
          <a:p>
            <a:pPr algn="r">
              <a:defRPr sz="1100">
                <a:solidFill>
                  <a:srgbClr val="FFFFFF"/>
                </a:solidFill>
              </a:defRPr>
            </a:pPr>
            <a:r>
              <a:rPr lang="fi-FI" dirty="0"/>
              <a:t>Naga Venkata Sai Ram Charan Pullabhotla</a:t>
            </a:r>
            <a:r>
              <a:rPr dirty="0"/>
              <a:t>  |  University of Hertfordshire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4572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058400" cy="731520"/>
          </a:xfrm>
          <a:prstGeom prst="rect">
            <a:avLst/>
          </a:prstGeom>
          <a:noFill/>
        </p:spPr>
        <p:txBody>
          <a:bodyPr wrap="none">
            <a:spAutoFit/>
          </a:bodyPr>
          <a:lstStyle/>
          <a:p>
            <a:pPr>
              <a:defRPr sz="3000" b="1">
                <a:solidFill>
                  <a:srgbClr val="FFFFFF"/>
                </a:solidFill>
              </a:defRPr>
            </a:pPr>
            <a:r>
              <a:t>References</a:t>
            </a:r>
          </a:p>
        </p:txBody>
      </p:sp>
      <p:sp>
        <p:nvSpPr>
          <p:cNvPr id="5" name="TextBox 4"/>
          <p:cNvSpPr txBox="1"/>
          <p:nvPr/>
        </p:nvSpPr>
        <p:spPr>
          <a:xfrm>
            <a:off x="548640" y="1371600"/>
            <a:ext cx="11064240" cy="4011355"/>
          </a:xfrm>
          <a:prstGeom prst="rect">
            <a:avLst/>
          </a:prstGeom>
          <a:noFill/>
        </p:spPr>
        <p:txBody>
          <a:bodyPr wrap="square">
            <a:spAutoFit/>
          </a:bodyPr>
          <a:lstStyle/>
          <a:p>
            <a:pPr>
              <a:spcBef>
                <a:spcPts val="1200"/>
              </a:spcBef>
              <a:spcAft>
                <a:spcPts val="400"/>
              </a:spcAft>
              <a:defRPr sz="1800" b="1">
                <a:solidFill>
                  <a:srgbClr val="003366"/>
                </a:solidFill>
              </a:defRPr>
            </a:pPr>
            <a:r>
              <a:rPr sz="1400" dirty="0"/>
              <a:t>ACADEMIC REFERENCES</a:t>
            </a:r>
          </a:p>
          <a:p>
            <a:pPr>
              <a:spcAft>
                <a:spcPts val="500"/>
              </a:spcAft>
              <a:defRPr sz="1600">
                <a:solidFill>
                  <a:srgbClr val="3C3C46"/>
                </a:solidFill>
              </a:defRPr>
            </a:pPr>
            <a:r>
              <a:rPr sz="1200" dirty="0"/>
              <a:t>    • </a:t>
            </a:r>
            <a:r>
              <a:rPr sz="1200" dirty="0" err="1"/>
              <a:t>Fanaee</a:t>
            </a:r>
            <a:r>
              <a:rPr sz="1200" dirty="0"/>
              <a:t>-T, H., &amp; Gama, J. (2014). Event labeling combining ensemble</a:t>
            </a:r>
          </a:p>
          <a:p>
            <a:pPr>
              <a:spcAft>
                <a:spcPts val="500"/>
              </a:spcAft>
              <a:defRPr sz="1600">
                <a:solidFill>
                  <a:srgbClr val="3C3C46"/>
                </a:solidFill>
              </a:defRPr>
            </a:pPr>
            <a:r>
              <a:rPr sz="1200" dirty="0"/>
              <a:t>      detectors and background knowledge. Progress in Artificial Intelligence,</a:t>
            </a:r>
          </a:p>
          <a:p>
            <a:pPr>
              <a:spcAft>
                <a:spcPts val="500"/>
              </a:spcAft>
              <a:defRPr sz="1600">
                <a:solidFill>
                  <a:srgbClr val="3C3C46"/>
                </a:solidFill>
              </a:defRPr>
            </a:pPr>
            <a:r>
              <a:rPr sz="1200" dirty="0"/>
              <a:t>      2(2-3), 113-127. [Original UCI Bike Sharing Dataset paper]</a:t>
            </a:r>
          </a:p>
          <a:p>
            <a:pPr>
              <a:spcAft>
                <a:spcPts val="500"/>
              </a:spcAft>
              <a:defRPr sz="1600">
                <a:solidFill>
                  <a:srgbClr val="3C3C46"/>
                </a:solidFill>
              </a:defRPr>
            </a:pPr>
            <a:r>
              <a:rPr sz="1200" dirty="0"/>
              <a:t>    • Chen, P., et al. (2021). A SARIMA-based model for bike sharing demand</a:t>
            </a:r>
          </a:p>
          <a:p>
            <a:pPr>
              <a:spcAft>
                <a:spcPts val="500"/>
              </a:spcAft>
              <a:defRPr sz="1600">
                <a:solidFill>
                  <a:srgbClr val="3C3C46"/>
                </a:solidFill>
              </a:defRPr>
            </a:pPr>
            <a:r>
              <a:rPr sz="1200" dirty="0"/>
              <a:t>      forecasting. Transportation Research Part C, 134, 103432.</a:t>
            </a:r>
          </a:p>
          <a:p>
            <a:pPr>
              <a:spcAft>
                <a:spcPts val="500"/>
              </a:spcAft>
              <a:defRPr sz="1600">
                <a:solidFill>
                  <a:srgbClr val="3C3C46"/>
                </a:solidFill>
              </a:defRPr>
            </a:pPr>
            <a:r>
              <a:rPr sz="1200" dirty="0"/>
              <a:t>    • </a:t>
            </a:r>
            <a:r>
              <a:rPr sz="1200" dirty="0" err="1"/>
              <a:t>Sathishkumar</a:t>
            </a:r>
            <a:r>
              <a:rPr sz="1200" dirty="0"/>
              <a:t>, V.E., et al. (2020). A comparative study of ML models</a:t>
            </a:r>
          </a:p>
          <a:p>
            <a:pPr>
              <a:spcAft>
                <a:spcPts val="500"/>
              </a:spcAft>
              <a:defRPr sz="1600">
                <a:solidFill>
                  <a:srgbClr val="3C3C46"/>
                </a:solidFill>
              </a:defRPr>
            </a:pPr>
            <a:r>
              <a:rPr sz="1200" dirty="0"/>
              <a:t>      for bike-sharing demand. Sustainability, 12(5), 1-23.</a:t>
            </a:r>
          </a:p>
          <a:p>
            <a:pPr>
              <a:spcAft>
                <a:spcPts val="500"/>
              </a:spcAft>
              <a:defRPr sz="1600">
                <a:solidFill>
                  <a:srgbClr val="3C3C46"/>
                </a:solidFill>
              </a:defRPr>
            </a:pPr>
            <a:r>
              <a:rPr sz="1200" dirty="0"/>
              <a:t>    • Hyndman, R.J. &amp; </a:t>
            </a:r>
            <a:r>
              <a:rPr sz="1200" dirty="0" err="1"/>
              <a:t>Athanasopoulos</a:t>
            </a:r>
            <a:r>
              <a:rPr sz="1200" dirty="0"/>
              <a:t>, G. (2021). Forecasting: Principles</a:t>
            </a:r>
          </a:p>
          <a:p>
            <a:pPr>
              <a:spcAft>
                <a:spcPts val="500"/>
              </a:spcAft>
              <a:defRPr sz="1600">
                <a:solidFill>
                  <a:srgbClr val="3C3C46"/>
                </a:solidFill>
              </a:defRPr>
            </a:pPr>
            <a:r>
              <a:rPr sz="1200" dirty="0"/>
              <a:t>      and Practice (3rd ed.). </a:t>
            </a:r>
            <a:r>
              <a:rPr sz="1200" dirty="0" err="1"/>
              <a:t>OTexts</a:t>
            </a:r>
            <a:r>
              <a:rPr sz="1200" dirty="0"/>
              <a:t>. [ACF/PACF methodology reference]</a:t>
            </a:r>
          </a:p>
          <a:p>
            <a:pPr>
              <a:spcAft>
                <a:spcPts val="500"/>
              </a:spcAft>
              <a:defRPr sz="1600">
                <a:solidFill>
                  <a:srgbClr val="3C3C46"/>
                </a:solidFill>
              </a:defRPr>
            </a:pPr>
            <a:endParaRPr dirty="0"/>
          </a:p>
          <a:p>
            <a:pPr>
              <a:spcBef>
                <a:spcPts val="1200"/>
              </a:spcBef>
              <a:spcAft>
                <a:spcPts val="400"/>
              </a:spcAft>
              <a:defRPr sz="1800" b="1">
                <a:solidFill>
                  <a:srgbClr val="003366"/>
                </a:solidFill>
              </a:defRPr>
            </a:pPr>
            <a:r>
              <a:rPr sz="1400" dirty="0"/>
              <a:t>TOOLS, LIBRARIES &amp; ENVIRONMENT</a:t>
            </a:r>
          </a:p>
          <a:p>
            <a:pPr>
              <a:spcAft>
                <a:spcPts val="500"/>
              </a:spcAft>
              <a:defRPr sz="1600">
                <a:solidFill>
                  <a:srgbClr val="3C3C46"/>
                </a:solidFill>
              </a:defRPr>
            </a:pPr>
            <a:r>
              <a:rPr sz="1200" dirty="0"/>
              <a:t>    • Python 3.11, pandas 2.0, NumPy 1.24, matplotlib 3.7, seaborn 0.12</a:t>
            </a:r>
          </a:p>
          <a:p>
            <a:pPr>
              <a:spcAft>
                <a:spcPts val="500"/>
              </a:spcAft>
              <a:defRPr sz="1600">
                <a:solidFill>
                  <a:srgbClr val="3C3C46"/>
                </a:solidFill>
              </a:defRPr>
            </a:pPr>
            <a:r>
              <a:rPr sz="1200" dirty="0"/>
              <a:t>    • </a:t>
            </a:r>
            <a:r>
              <a:rPr sz="1200" dirty="0" err="1"/>
              <a:t>statsmodels</a:t>
            </a:r>
            <a:r>
              <a:rPr sz="1200" dirty="0"/>
              <a:t> 0.14 (SARIMAX), </a:t>
            </a:r>
            <a:r>
              <a:rPr sz="1200" dirty="0" err="1"/>
              <a:t>XGBoost</a:t>
            </a:r>
            <a:r>
              <a:rPr sz="1200" dirty="0"/>
              <a:t> 1.7, scikit-learn 1.3</a:t>
            </a:r>
          </a:p>
          <a:p>
            <a:pPr>
              <a:spcAft>
                <a:spcPts val="500"/>
              </a:spcAft>
              <a:defRPr sz="1600">
                <a:solidFill>
                  <a:srgbClr val="3C3C46"/>
                </a:solidFill>
              </a:defRPr>
            </a:pPr>
            <a:r>
              <a:rPr sz="1200" dirty="0"/>
              <a:t>    • </a:t>
            </a:r>
            <a:r>
              <a:rPr sz="1200" dirty="0" err="1"/>
              <a:t>Jupyter</a:t>
            </a:r>
            <a:r>
              <a:rPr sz="1200" dirty="0"/>
              <a:t> Notebook, VS Code, GitHub (version control)</a:t>
            </a:r>
          </a:p>
        </p:txBody>
      </p:sp>
      <p:sp>
        <p:nvSpPr>
          <p:cNvPr id="6" name="Rectangle 5"/>
          <p:cNvSpPr/>
          <p:nvPr/>
        </p:nvSpPr>
        <p:spPr>
          <a:xfrm>
            <a:off x="0" y="6355080"/>
            <a:ext cx="12191695" cy="50292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6428232"/>
            <a:ext cx="3657600" cy="365760"/>
          </a:xfrm>
          <a:prstGeom prst="rect">
            <a:avLst/>
          </a:prstGeom>
          <a:noFill/>
        </p:spPr>
        <p:txBody>
          <a:bodyPr wrap="none">
            <a:spAutoFit/>
          </a:bodyPr>
          <a:lstStyle/>
          <a:p>
            <a:pPr>
              <a:defRPr sz="1100">
                <a:solidFill>
                  <a:srgbClr val="FFFFFF"/>
                </a:solidFill>
              </a:defRPr>
            </a:pPr>
            <a:r>
              <a:t>Slide 16</a:t>
            </a:r>
          </a:p>
        </p:txBody>
      </p:sp>
      <p:sp>
        <p:nvSpPr>
          <p:cNvPr id="8" name="TextBox 7"/>
          <p:cNvSpPr txBox="1"/>
          <p:nvPr/>
        </p:nvSpPr>
        <p:spPr>
          <a:xfrm>
            <a:off x="7581214" y="6428232"/>
            <a:ext cx="4305986" cy="261610"/>
          </a:xfrm>
          <a:prstGeom prst="rect">
            <a:avLst/>
          </a:prstGeom>
          <a:noFill/>
        </p:spPr>
        <p:txBody>
          <a:bodyPr wrap="none">
            <a:spAutoFit/>
          </a:bodyPr>
          <a:lstStyle/>
          <a:p>
            <a:pPr algn="r">
              <a:defRPr sz="1100">
                <a:solidFill>
                  <a:srgbClr val="FFFFFF"/>
                </a:solidFill>
              </a:defRPr>
            </a:pPr>
            <a:r>
              <a:rPr lang="fi-FI" dirty="0"/>
              <a:t>Naga Venkata Sai Ram Charan Pullabhotla</a:t>
            </a:r>
            <a:r>
              <a:rPr dirty="0"/>
              <a:t>  |  University of Hertfordshire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20</TotalTime>
  <Words>7795</Words>
  <Application>Microsoft Office PowerPoint</Application>
  <PresentationFormat>Widescreen</PresentationFormat>
  <Paragraphs>859</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Naga Venkata Sai Ram Charan Pullabhotla [Student-PECS]</cp:lastModifiedBy>
  <cp:revision>22</cp:revision>
  <dcterms:created xsi:type="dcterms:W3CDTF">2013-01-27T09:14:16Z</dcterms:created>
  <dcterms:modified xsi:type="dcterms:W3CDTF">2026-03-26T12:35:49Z</dcterms:modified>
  <cp:category/>
</cp:coreProperties>
</file>