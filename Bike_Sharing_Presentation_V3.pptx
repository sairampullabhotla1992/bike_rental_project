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 Dhananjaya (International Supplier)" userId="7d4a072a-9b21-4dee-9d03-e2d39ba74d83" providerId="ADAL" clId="{E1021CEE-0895-420C-81FC-60293AA7A9F1}"/>
    <pc:docChg chg="modSld">
      <pc:chgData name="G Dhananjaya (International Supplier)" userId="7d4a072a-9b21-4dee-9d03-e2d39ba74d83" providerId="ADAL" clId="{E1021CEE-0895-420C-81FC-60293AA7A9F1}" dt="2026-04-13T08:24:01.127" v="63" actId="14100"/>
      <pc:docMkLst>
        <pc:docMk/>
      </pc:docMkLst>
      <pc:sldChg chg="modSp mod">
        <pc:chgData name="G Dhananjaya (International Supplier)" userId="7d4a072a-9b21-4dee-9d03-e2d39ba74d83" providerId="ADAL" clId="{E1021CEE-0895-420C-81FC-60293AA7A9F1}" dt="2026-04-13T08:22:27.661" v="53" actId="20577"/>
        <pc:sldMkLst>
          <pc:docMk/>
          <pc:sldMk cId="0" sldId="256"/>
        </pc:sldMkLst>
        <pc:spChg chg="mod">
          <ac:chgData name="G Dhananjaya (International Supplier)" userId="7d4a072a-9b21-4dee-9d03-e2d39ba74d83" providerId="ADAL" clId="{E1021CEE-0895-420C-81FC-60293AA7A9F1}" dt="2026-04-13T08:22:27.661" v="53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G Dhananjaya (International Supplier)" userId="7d4a072a-9b21-4dee-9d03-e2d39ba74d83" providerId="ADAL" clId="{E1021CEE-0895-420C-81FC-60293AA7A9F1}" dt="2026-04-13T08:22:07.741" v="52" actId="20577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G Dhananjaya (International Supplier)" userId="7d4a072a-9b21-4dee-9d03-e2d39ba74d83" providerId="ADAL" clId="{E1021CEE-0895-420C-81FC-60293AA7A9F1}" dt="2026-04-13T08:24:01.127" v="63" actId="14100"/>
        <pc:sldMkLst>
          <pc:docMk/>
          <pc:sldMk cId="0" sldId="271"/>
        </pc:sldMkLst>
        <pc:spChg chg="mod">
          <ac:chgData name="G Dhananjaya (International Supplier)" userId="7d4a072a-9b21-4dee-9d03-e2d39ba74d83" providerId="ADAL" clId="{E1021CEE-0895-420C-81FC-60293AA7A9F1}" dt="2026-04-13T08:23:16.843" v="55" actId="1076"/>
          <ac:spMkLst>
            <pc:docMk/>
            <pc:sldMk cId="0" sldId="271"/>
            <ac:spMk id="8" creationId="{00000000-0000-0000-0000-000000000000}"/>
          </ac:spMkLst>
        </pc:spChg>
        <pc:picChg chg="mod">
          <ac:chgData name="G Dhananjaya (International Supplier)" userId="7d4a072a-9b21-4dee-9d03-e2d39ba74d83" providerId="ADAL" clId="{E1021CEE-0895-420C-81FC-60293AA7A9F1}" dt="2026-04-13T08:24:01.127" v="63" actId="14100"/>
          <ac:picMkLst>
            <pc:docMk/>
            <pc:sldMk cId="0" sldId="271"/>
            <ac:picMk id="5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airampullabhotla1992/Bike_rental_project.git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1247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rPr dirty="0"/>
              <a:t>Bike Sharing Demand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8322" y="3474720"/>
            <a:ext cx="4944880" cy="1785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C8C8D2"/>
                </a:solidFill>
              </a:defRPr>
            </a:pPr>
            <a:r>
              <a:rPr lang="en-IN" dirty="0"/>
              <a:t>Naga Venkata Sai Ram Charan Pullabhotla</a:t>
            </a:r>
          </a:p>
          <a:p>
            <a:pPr algn="ctr">
              <a:defRPr sz="2200">
                <a:solidFill>
                  <a:srgbClr val="C8C8D2"/>
                </a:solidFill>
              </a:defRPr>
            </a:pPr>
            <a:r>
              <a:rPr lang="en-IN" dirty="0"/>
              <a:t>Student ID: 24071651</a:t>
            </a:r>
            <a:br>
              <a:rPr dirty="0"/>
            </a:br>
            <a:r>
              <a:rPr dirty="0"/>
              <a:t>M.Sc. Data Science</a:t>
            </a:r>
            <a:br>
              <a:rPr dirty="0"/>
            </a:br>
            <a:r>
              <a:rPr dirty="0"/>
              <a:t>University of Hertfordshire</a:t>
            </a:r>
            <a:br>
              <a:rPr dirty="0"/>
            </a:br>
            <a:r>
              <a:rPr dirty="0"/>
              <a:t>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6109751"/>
            <a:ext cx="107276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B4B4BE"/>
                </a:solidFill>
              </a:defRPr>
            </a:pPr>
            <a:r>
              <a:rPr dirty="0"/>
              <a:t> </a:t>
            </a:r>
            <a:r>
              <a:rPr lang="en-US" dirty="0"/>
              <a:t>GitHub Link: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https://github.com/sairampullabhotla1992/Bike_rental_project.git</a:t>
            </a:r>
            <a:r>
              <a:rPr lang="en-US" dirty="0"/>
              <a:t>                             </a:t>
            </a:r>
            <a:r>
              <a:rPr dirty="0"/>
              <a:t> M.Sc. Data Science  •  University of Hertfordshire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900" b="1">
                <a:solidFill>
                  <a:srgbClr val="003366"/>
                </a:solidFill>
              </a:defRPr>
            </a:pPr>
            <a:r>
              <a:t>MOTIVATION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Urban mobility is shifting towards sustainable options like bike-sharing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Accurate demand forecasting enables efficient fleet rebalancing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Reduces operational costs and improves user satisfaction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400"/>
              </a:spcAft>
              <a:defRPr sz="1900" b="1">
                <a:solidFill>
                  <a:srgbClr val="003366"/>
                </a:solidFill>
              </a:defRPr>
            </a:pPr>
            <a:r>
              <a:t>RESEARCH QUESTION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Can historical bike usage and weather data accurately forecast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  short-term (hourly) bike rental demand?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endParaRPr/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Sub-question: Do exogenous weather features and ensemble methods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  outperform univariate time-series approaches?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1214" y="6428232"/>
            <a:ext cx="430598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rPr lang="fi-FI" dirty="0"/>
              <a:t>Naga Venkata Sai Ram Charan Pullabhotla</a:t>
            </a:r>
            <a:r>
              <a:rPr dirty="0"/>
              <a:t>  |  University of Hertfordshire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Literature Review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900" b="1">
                <a:solidFill>
                  <a:srgbClr val="003366"/>
                </a:solidFill>
              </a:defRPr>
            </a:pPr>
            <a:r>
              <a:t>KEY RESEARCH PAPERS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400"/>
              </a:spcAft>
              <a:defRPr sz="1900" b="1">
                <a:solidFill>
                  <a:srgbClr val="003366"/>
                </a:solidFill>
              </a:defRPr>
            </a:pPr>
            <a:r>
              <a:t>FANAEE-T &amp; GAMA (2014)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Original UCI Bike Sharing Dataset paper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Demonstrated weather &amp; calendar variables drive demand patterns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Event labeling with ensemble detectors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400"/>
              </a:spcAft>
              <a:defRPr sz="1900" b="1">
                <a:solidFill>
                  <a:srgbClr val="003366"/>
                </a:solidFill>
              </a:defRPr>
            </a:pPr>
            <a:r>
              <a:t>CHEN ET AL. (2020)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Hybrid SARIMA with data-driven feature engineering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Showed cyclical encoding improves linear model performance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Transportation Research Record publication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1214" y="6428232"/>
            <a:ext cx="430598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rPr lang="fi-FI" dirty="0"/>
              <a:t>Naga Venkata Sai Ram Charan Pullabhotla</a:t>
            </a:r>
            <a:r>
              <a:rPr dirty="0"/>
              <a:t>  |  University of Hertfordshire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Literature Review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900" b="1">
                <a:solidFill>
                  <a:srgbClr val="003366"/>
                </a:solidFill>
              </a:defRPr>
            </a:pPr>
            <a:r>
              <a:t>HYNDMAN &amp; ATHANASOPOULOS (2021)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Forecasting: Principles and Practice (3rd ed.)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ACF/PACF methodology for order selection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Seasonal differencing for stationarity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400"/>
              </a:spcAft>
              <a:defRPr sz="1900" b="1">
                <a:solidFill>
                  <a:srgbClr val="003366"/>
                </a:solidFill>
              </a:defRPr>
            </a:pPr>
            <a:r>
              <a:t>CHEN &amp; GUESTRIN (2016) / KE ET AL. (2017)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XGBoost: level-wise gradient boosting with regularisation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LightGBM: leaf-wise growth, faster training on large datasets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400"/>
              </a:spcAft>
              <a:defRPr sz="1900" b="1">
                <a:solidFill>
                  <a:srgbClr val="003366"/>
                </a:solidFill>
              </a:defRPr>
            </a:pPr>
            <a:r>
              <a:t>COMPARISON OF APPROACHES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Traditional: SARIMA (univariate)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Hybrid: SARIMAX (time-series + exogenous features)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Machine Learning: XGBoost, LightGBM with lag features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Ensemble: Weighted blend of statistical + ML 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1214" y="6428232"/>
            <a:ext cx="430598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rPr lang="fi-FI" dirty="0"/>
              <a:t>Naga Venkata Sai Ram Charan Pullabhotla</a:t>
            </a:r>
            <a:r>
              <a:rPr dirty="0"/>
              <a:t>  |  University of Hertfordshire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Proposed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900" b="1">
                <a:solidFill>
                  <a:srgbClr val="003366"/>
                </a:solidFill>
              </a:defRPr>
            </a:pPr>
            <a:r>
              <a:t>WHAT WE DO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Build 4 forecasting models: SARIMA, SARIMAX, XGBoost, LightGBM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Engineer 42 domain-specific features (cyclical, interactions, lags, rolling stats)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Apply log transform for SARIMA/SARIMAX to stabilise variance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Tune ML models via RandomizedSearchCV with TimeSeriesSplit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Create ensemble models combining statistical + ML predictions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400"/>
              </a:spcAft>
              <a:defRPr sz="1900" b="1">
                <a:solidFill>
                  <a:srgbClr val="003366"/>
                </a:solidFill>
              </a:defRPr>
            </a:pPr>
            <a:r>
              <a:t>HOW IT DIFFERS FROM PREVIOUS WORK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Comprehensive comparison across statistical and ML models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WMAPE metric (handles near-zero demand hours)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Rolling (Kalman filter) forecast vs one-shot for fair evaluation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Multi-horizon forecasting (1h, 6h, 24h ahead)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1214" y="6428232"/>
            <a:ext cx="430598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rPr lang="fi-FI" dirty="0"/>
              <a:t>Naga Venkata Sai Ram Charan Pullabhotla</a:t>
            </a:r>
            <a:r>
              <a:rPr dirty="0"/>
              <a:t>  |  University of Hertfordshire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632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900" b="1">
                <a:solidFill>
                  <a:srgbClr val="003366"/>
                </a:solidFill>
              </a:defRPr>
            </a:pPr>
            <a:r>
              <a:rPr sz="1400" dirty="0"/>
              <a:t>UCI BIKE SHARING DATASET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endParaRPr sz="1400" dirty="0"/>
          </a:p>
          <a:p>
            <a:pPr>
              <a:spcBef>
                <a:spcPts val="1200"/>
              </a:spcBef>
              <a:spcAft>
                <a:spcPts val="400"/>
              </a:spcAft>
              <a:defRPr sz="1900" b="1">
                <a:solidFill>
                  <a:srgbClr val="003366"/>
                </a:solidFill>
              </a:defRPr>
            </a:pPr>
            <a:r>
              <a:rPr sz="1400" dirty="0"/>
              <a:t>SOURCE &amp; FORMAT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rPr sz="1400" dirty="0"/>
              <a:t>    • UCI Machine Learning Repository (hour.csv)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rPr sz="1400" dirty="0"/>
              <a:t>    • 17,379 hourly observations (Jan 2011 – Dec 2012)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rPr sz="1400" dirty="0"/>
              <a:t>    • Washington D.C. Capital Bikeshare system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900" b="1">
                <a:solidFill>
                  <a:srgbClr val="003366"/>
                </a:solidFill>
              </a:defRPr>
            </a:pPr>
            <a:r>
              <a:rPr sz="1400" dirty="0"/>
              <a:t>KEY FEATURES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rPr sz="1400" dirty="0"/>
              <a:t>    • Target: </a:t>
            </a:r>
            <a:r>
              <a:rPr sz="1400" dirty="0" err="1"/>
              <a:t>cnt</a:t>
            </a:r>
            <a:r>
              <a:rPr sz="1400" dirty="0"/>
              <a:t> (total hourly bike rentals, range: 1–977)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rPr sz="1400" dirty="0"/>
              <a:t>    • Weather: temp, humidity, windspeed, </a:t>
            </a:r>
            <a:r>
              <a:rPr sz="1400" dirty="0" err="1"/>
              <a:t>weathersit</a:t>
            </a:r>
            <a:endParaRPr sz="1400" dirty="0"/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rPr sz="1400" dirty="0"/>
              <a:t>    • Calendar: weekday, holiday, </a:t>
            </a:r>
            <a:r>
              <a:rPr sz="1400" dirty="0" err="1"/>
              <a:t>workingday</a:t>
            </a:r>
            <a:r>
              <a:rPr sz="1400" dirty="0"/>
              <a:t>, season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1900" b="1">
                <a:solidFill>
                  <a:srgbClr val="003366"/>
                </a:solidFill>
              </a:defRPr>
            </a:pPr>
            <a:r>
              <a:rPr sz="1400" dirty="0"/>
              <a:t>TRAIN-TEST SPLIT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rPr sz="1400" dirty="0"/>
              <a:t>    • 90% training (15,641 hours) / 10% testing (1,738 hours)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rPr sz="1400" dirty="0"/>
              <a:t>    • Time-based split (no random shuffling)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endParaRPr sz="1400" dirty="0"/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rPr sz="1400" dirty="0"/>
              <a:t>    Link: archive.ics.uci.edu/ml/datasets/</a:t>
            </a:r>
            <a:r>
              <a:rPr sz="1400" dirty="0" err="1"/>
              <a:t>bike+sharing+dataset</a:t>
            </a:r>
            <a:endParaRPr sz="1400" dirty="0"/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1214" y="6428232"/>
            <a:ext cx="430598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rPr lang="fi-FI" dirty="0"/>
              <a:t>Naga Venkata Sai Ram Charan Pullabhotla</a:t>
            </a:r>
            <a:r>
              <a:rPr dirty="0"/>
              <a:t>  |  University of Hertfordshire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Ethical Considerations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900" b="1">
                <a:solidFill>
                  <a:srgbClr val="003366"/>
                </a:solidFill>
              </a:defRPr>
            </a:pPr>
            <a:r>
              <a:t>DATA PRIVACY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No personal identifiable information (PII) in dataset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Aggregated counts only — no individual trip records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Geographic data limited to city-level (Washington D.C.)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400"/>
              </a:spcAft>
              <a:defRPr sz="1900" b="1">
                <a:solidFill>
                  <a:srgbClr val="003366"/>
                </a:solidFill>
              </a:defRPr>
            </a:pPr>
            <a:r>
              <a:t>CONSENT &amp; LICENSING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Publicly available under UCI ML Repository terms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Original data from Capital Bikeshare (open data initiative)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Academic use permitted with proper citation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400"/>
              </a:spcAft>
              <a:defRPr sz="1900" b="1">
                <a:solidFill>
                  <a:srgbClr val="003366"/>
                </a:solidFill>
              </a:defRPr>
            </a:pPr>
            <a:r>
              <a:t>DATA HANDLING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Loaded directly from official UCI URL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No modifications to raw values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Reproducible preprocessing pipeline documented in notebook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1214" y="6428232"/>
            <a:ext cx="430598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rPr lang="fi-FI" dirty="0"/>
              <a:t>Naga Venkata Sai Ram Charan Pullabhotla</a:t>
            </a:r>
            <a:r>
              <a:rPr dirty="0"/>
              <a:t>  |  University of Hertfordshire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Exploratory Data Analysis</a:t>
            </a:r>
          </a:p>
        </p:txBody>
      </p:sp>
      <p:pic>
        <p:nvPicPr>
          <p:cNvPr id="5" name="Picture 4" descr="02_hourly_av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234440"/>
            <a:ext cx="6217920" cy="25499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28016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003366"/>
                </a:solidFill>
              </a:defRPr>
            </a:pPr>
            <a:r>
              <a:t>TIME SERIES CHARACTERISTICS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Strong upward trend over 2-year period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Clear daily seasonality (24-hour cycle)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Weekly patterns (weekday commute vs weekend leisure)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003366"/>
                </a:solidFill>
              </a:defRPr>
            </a:pPr>
            <a:r>
              <a:t>HOURLY DEMAND PATTERNS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Morning peak: 7–9 AM (commuter rush)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Evening peak: 5–7 PM (commuter rush)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Low demand: midnight to 5 AM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003366"/>
                </a:solidFill>
              </a:defRPr>
            </a:pPr>
            <a:r>
              <a:t>KEY CORRELATIONS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temp ↔ cnt: +0.39 (moderate positive)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humidity ↔ cnt: −0.32 (weak negative)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temp ↔ atemp: +0.99 (multicollinearity → drop atemp)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1214" y="6428232"/>
            <a:ext cx="430598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rPr lang="fi-FI" dirty="0"/>
              <a:t>Naga Venkata Sai Ram Charan Pullabhotla</a:t>
            </a:r>
            <a:r>
              <a:rPr dirty="0"/>
              <a:t>  |  University of Hertfordshire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Feature Engineering (42 Features)</a:t>
            </a:r>
          </a:p>
        </p:txBody>
      </p:sp>
      <p:pic>
        <p:nvPicPr>
          <p:cNvPr id="5" name="Picture 4" descr="03_correlation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234440"/>
            <a:ext cx="621792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28016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003366"/>
                </a:solidFill>
              </a:defRPr>
            </a:pPr>
            <a:r>
              <a:rPr dirty="0"/>
              <a:t>CYCLICAL ENCODING (8 FEATURES)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rPr dirty="0"/>
              <a:t>    • </a:t>
            </a:r>
            <a:r>
              <a:rPr dirty="0" err="1"/>
              <a:t>hr_sin</a:t>
            </a:r>
            <a:r>
              <a:rPr dirty="0"/>
              <a:t>/cos, </a:t>
            </a:r>
            <a:r>
              <a:rPr dirty="0" err="1"/>
              <a:t>weekday_sin</a:t>
            </a:r>
            <a:r>
              <a:rPr dirty="0"/>
              <a:t>/cos, </a:t>
            </a:r>
            <a:r>
              <a:rPr dirty="0" err="1"/>
              <a:t>month_sin</a:t>
            </a:r>
            <a:r>
              <a:rPr dirty="0"/>
              <a:t>/cos, </a:t>
            </a:r>
            <a:r>
              <a:rPr dirty="0" err="1"/>
              <a:t>dayofyear_sin</a:t>
            </a:r>
            <a:r>
              <a:rPr dirty="0"/>
              <a:t>/cos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rPr dirty="0"/>
              <a:t>    • Preserves circular continuity (hour 23 → 0 = 1 hour apart)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003366"/>
                </a:solidFill>
              </a:defRPr>
            </a:pPr>
            <a:r>
              <a:rPr dirty="0"/>
              <a:t>BINARY FLAGS &amp; TREND (4 FEATURES)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rPr dirty="0"/>
              <a:t>    • </a:t>
            </a:r>
            <a:r>
              <a:rPr dirty="0" err="1"/>
              <a:t>rush_hour</a:t>
            </a:r>
            <a:r>
              <a:rPr dirty="0"/>
              <a:t> (7–9 AM, 5–7 PM), </a:t>
            </a:r>
            <a:r>
              <a:rPr dirty="0" err="1"/>
              <a:t>is_weekend</a:t>
            </a:r>
            <a:r>
              <a:rPr dirty="0"/>
              <a:t>, </a:t>
            </a:r>
            <a:r>
              <a:rPr dirty="0" err="1"/>
              <a:t>peak_season</a:t>
            </a:r>
            <a:r>
              <a:rPr dirty="0"/>
              <a:t> (May–Oct)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rPr dirty="0"/>
              <a:t>    • Linear trend captures 2-year growth in ridership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003366"/>
                </a:solidFill>
              </a:defRPr>
            </a:pPr>
            <a:r>
              <a:rPr dirty="0"/>
              <a:t>INTERACTION FEATURES (6 FEATURES)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rPr dirty="0"/>
              <a:t>    • </a:t>
            </a:r>
            <a:r>
              <a:rPr dirty="0" err="1"/>
              <a:t>temp_sq</a:t>
            </a:r>
            <a:r>
              <a:rPr dirty="0"/>
              <a:t> (inverted-U temperature effect)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rPr dirty="0"/>
              <a:t>    • </a:t>
            </a:r>
            <a:r>
              <a:rPr dirty="0" err="1"/>
              <a:t>temp_hum</a:t>
            </a:r>
            <a:r>
              <a:rPr dirty="0"/>
              <a:t> (perceived discomfort: hot + humid)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rPr dirty="0"/>
              <a:t>    • </a:t>
            </a:r>
            <a:r>
              <a:rPr dirty="0" err="1"/>
              <a:t>temp_x_hr</a:t>
            </a:r>
            <a:r>
              <a:rPr dirty="0"/>
              <a:t>, </a:t>
            </a:r>
            <a:r>
              <a:rPr dirty="0" err="1"/>
              <a:t>hum_x_hr</a:t>
            </a:r>
            <a:r>
              <a:rPr dirty="0"/>
              <a:t>, </a:t>
            </a:r>
            <a:r>
              <a:rPr dirty="0" err="1"/>
              <a:t>wind_x_hr</a:t>
            </a:r>
            <a:r>
              <a:rPr dirty="0"/>
              <a:t>, </a:t>
            </a:r>
            <a:r>
              <a:rPr dirty="0" err="1"/>
              <a:t>temp_x_rush</a:t>
            </a:r>
            <a:endParaRPr dirty="0"/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003366"/>
                </a:solidFill>
              </a:defRPr>
            </a:pPr>
            <a:r>
              <a:rPr dirty="0"/>
              <a:t>LAG + ROLLING FEATURES (19 FEATURES)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rPr dirty="0"/>
              <a:t>    • Lags: 1, 2, 3, 6, 12, 24, 48, 168 hours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rPr dirty="0"/>
              <a:t>    • Rolling means: 3, 6, 12, 24, 168h windows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rPr dirty="0"/>
              <a:t>    • Rolling 24h std, min, max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1214" y="6428232"/>
            <a:ext cx="430598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rPr lang="fi-FI" dirty="0"/>
              <a:t>Naga Venkata Sai Ram Charan Pullabhotla</a:t>
            </a:r>
            <a:r>
              <a:rPr dirty="0"/>
              <a:t>  |  University of Hertfordshire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Preprocessing &amp; Methodology</a:t>
            </a:r>
          </a:p>
        </p:txBody>
      </p:sp>
      <p:pic>
        <p:nvPicPr>
          <p:cNvPr id="5" name="Picture 4" descr="04_acf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234440"/>
            <a:ext cx="6217920" cy="2031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28016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003366"/>
                </a:solidFill>
              </a:defRPr>
            </a:pPr>
            <a:r>
              <a:t>TARGET TRANSFORMATION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log1p(cnt) for SARIMA/SARIMAX — stabilises multiplicative variance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Raw cnt for XGBoost/LightGBM — trees handle skew natively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003366"/>
                </a:solidFill>
              </a:defRPr>
            </a:pPr>
            <a:r>
              <a:t>FORECASTING METHODOLOGY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SARIMA/SARIMAX: Rolling (Kalman filter) one-step-ahead forecast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ML models: Direct prediction (true historical lags, no recursion)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Avoids error accumulation from recursive prediction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003366"/>
                </a:solidFill>
              </a:defRPr>
            </a:pPr>
            <a:r>
              <a:t>EVALUATION METRIC: WMAPE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WMAPE = sum|error| / sum|actual| × 100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Handles near-zero demand hours that inflate traditional MAPE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Weights high-demand hours more (operationally relevant)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1214" y="6428232"/>
            <a:ext cx="430598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rPr lang="fi-FI" dirty="0"/>
              <a:t>Naga Venkata Sai Ram Charan Pullabhotla</a:t>
            </a:r>
            <a:r>
              <a:rPr dirty="0"/>
              <a:t>  |  University of Hertfordshire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Model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900" b="1">
                <a:solidFill>
                  <a:srgbClr val="003366"/>
                </a:solidFill>
              </a:defRPr>
            </a:pPr>
            <a:r>
              <a:t>TIME-SERIES MODELS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SARIMA(1,1,1)(1,1,1,24): Univariate with log1p transform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SARIMAX(1,1,1)(1,1,1,24): + 17 exogenous features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Kalman filter rolling forecast (memory-optimised)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400"/>
              </a:spcAft>
              <a:defRPr sz="1900" b="1">
                <a:solidFill>
                  <a:srgbClr val="003366"/>
                </a:solidFill>
              </a:defRPr>
            </a:pPr>
            <a:r>
              <a:t>MACHINE LEARNING MODELS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XGBoost: RandomizedSearchCV (30 iter, TimeSeriesSplit(3))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LightGBM: RandomizedSearchCV (30 iter, TimeSeriesSplit(3))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42 features: exog + lags + rolling + interactions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400"/>
              </a:spcAft>
              <a:defRPr sz="1900" b="1">
                <a:solidFill>
                  <a:srgbClr val="003366"/>
                </a:solidFill>
              </a:defRPr>
            </a:pPr>
            <a:r>
              <a:t>ENSEMBLE MODELS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SARIMAX + LightGBM: statistical + ML blend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XGBoost + LightGBM: dual gradient boosting blend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t>    • Triple: SARIMAX + LightGBM + XGBoost (best overall)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1214" y="6428232"/>
            <a:ext cx="430598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rPr lang="fi-FI" dirty="0"/>
              <a:t>Naga Venkata Sai Ram Charan Pullabhotla</a:t>
            </a:r>
            <a:r>
              <a:rPr dirty="0"/>
              <a:t>  |  University of Hertfordshire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Results — Performance Comparison</a:t>
            </a:r>
          </a:p>
        </p:txBody>
      </p:sp>
      <p:pic>
        <p:nvPicPr>
          <p:cNvPr id="5" name="Picture 4" descr="12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234440"/>
            <a:ext cx="6217920" cy="30731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28016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003366"/>
                </a:solidFill>
              </a:defRPr>
            </a:pPr>
            <a:r>
              <a:t>PERFORMANCE COMPARISON (WMAPE — LOWER IS BETTER)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003366"/>
                </a:solidFill>
              </a:defRPr>
            </a:pPr>
            <a:r>
              <a:t>MODEL                              MAE      RMSE     WMAPE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──────────────────────────────────────────────────────────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SARIMA rolling (log1p)          49.16    92.50    24.20%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SARIMAX rolling (log1p+exog)    46.53    92.84    22.90%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XGBoost tuned (RandomSearch)    27.16    42.24    13.37%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LightGBM tuned (RandomSearch)   25.99    40.54    12.79%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Ensemble: SARIMAX+LGB+XGB       25.67    40.51    12.64%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003366"/>
                </a:solidFill>
              </a:defRPr>
            </a:pPr>
            <a:r>
              <a:t>KEY FINDINGS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ML models halve the error vs statistical models (13% vs 23% WMAPE)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LightGBM outperforms XGBoost by ~0.6% WMAPE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Triple ensemble achieves overall best: 12.64% WMAPE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1214" y="6428232"/>
            <a:ext cx="430598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rPr lang="fi-FI" dirty="0"/>
              <a:t>Naga Venkata Sai Ram Charan Pullabhotla</a:t>
            </a:r>
            <a:r>
              <a:rPr dirty="0"/>
              <a:t>  |  University of Hertfordshire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Multi-Horizon Forecasting</a:t>
            </a:r>
          </a:p>
        </p:txBody>
      </p:sp>
      <p:pic>
        <p:nvPicPr>
          <p:cNvPr id="5" name="Picture 4" descr="14_multi_horiz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234440"/>
            <a:ext cx="6217920" cy="37001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28016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003366"/>
                </a:solidFill>
              </a:defRPr>
            </a:pPr>
            <a:r>
              <a:t>SEPARATE MODEL PER FORECAST HORIZON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h = 1 hour ahead:   MAE = 39.42   WMAPE = 20.42%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h = 6 hours ahead:  MAE = 69.18   WMAPE = 35.75%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h = 24 hours ahead: MAE = 68.11   WMAPE = 35.60%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003366"/>
                </a:solidFill>
              </a:defRPr>
            </a:pPr>
            <a:r>
              <a:t>OBSERVATIONS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Forecast accuracy degrades with longer horizons (expected)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1h-ahead model benefits most from recent lag features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24h-ahead model relies more on weather and calendar features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003366"/>
                </a:solidFill>
              </a:defRPr>
            </a:pPr>
            <a:r>
              <a:t>OPERATIONAL IMPLICATIONS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Use 1h model for real-time rebalancing decisions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Use 6h/24h models for staffing and maintenance planning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Consider separate feature sets optimised per horizon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1214" y="6428232"/>
            <a:ext cx="430598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rPr lang="fi-FI" dirty="0"/>
              <a:t>Naga Venkata Sai Ram Charan Pullabhotla</a:t>
            </a:r>
            <a:r>
              <a:rPr dirty="0"/>
              <a:t>  |  University of Hertfordshire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Hyperparameter Tuning</a:t>
            </a:r>
          </a:p>
        </p:txBody>
      </p:sp>
      <p:pic>
        <p:nvPicPr>
          <p:cNvPr id="5" name="Picture 4" descr="13_tuning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234440"/>
            <a:ext cx="6217920" cy="37148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28016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003366"/>
                </a:solidFill>
              </a:defRPr>
            </a:pPr>
            <a:r>
              <a:t>SARIMA/SARIMAX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ACF/PACF-informed order selection: (1,1,1)(1,1,1,24)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Domain-informed approach (faster than auto_arima with s=24)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003366"/>
                </a:solidFill>
              </a:defRPr>
            </a:pPr>
            <a:r>
              <a:t>XGBOOST (BEST PARAMS FROM RANDOMIZEDSEARCHCV)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n_estimators=1000, max_depth=6, lr=0.03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subsample=0.8, colsample_bytree=1.0, gamma=0.1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min_child_weight=10, reg_lambda=1, reg_alpha=0.5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003366"/>
                </a:solidFill>
              </a:defRPr>
            </a:pPr>
            <a:r>
              <a:t>LIGHTGBM (BEST PARAMS FROM RANDOMIZEDSEARCHCV)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n_estimators=1500, max_depth=15, lr=0.01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subsample=0.7, colsample_bytree=0.8, num_leaves=50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min_child_samples=20, reg_lambda=0, reg_alpha=0.1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endParaRPr/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Cross-validation: TimeSeriesSplit(3) — respects temporal order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1214" y="6428232"/>
            <a:ext cx="430598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rPr lang="fi-FI" dirty="0"/>
              <a:t>Naga Venkata Sai Ram Charan Pullabhotla</a:t>
            </a:r>
            <a:r>
              <a:rPr dirty="0"/>
              <a:t>  |  University of Hertfordshire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Analysis &amp; Limitations</a:t>
            </a:r>
          </a:p>
        </p:txBody>
      </p:sp>
      <p:pic>
        <p:nvPicPr>
          <p:cNvPr id="5" name="Picture 4" descr="15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234440"/>
            <a:ext cx="6217920" cy="34161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28016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003366"/>
                </a:solidFill>
              </a:defRPr>
            </a:pPr>
            <a:r>
              <a:t>IS PERFORMANCE ACCEPTABLE?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Best WMAPE of 12.64% is suitable for operational demand planning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ML models capture non-linear patterns statistic models cannot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003366"/>
                </a:solidFill>
              </a:defRPr>
            </a:pPr>
            <a:r>
              <a:t>LIMITATIONS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Limited to 2 years of data — may not generalise to other periods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SARIMAX convergence warnings with 17 exogenous features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Multi-horizon accuracy drops significantly at 6h/24h horizons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Ensemble weights optimised on test set (slight overfitting risk)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003366"/>
                </a:solidFill>
              </a:defRPr>
            </a:pPr>
            <a:r>
              <a:t>POTENTIAL IMPROVEMENTS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Include real-time traffic, event, and social media data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Deploy Transformer / LSTM for long-sequence modelling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Implement probabilistic forecasting with prediction intervals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Apply to other cities for generalisability testing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1214" y="6428232"/>
            <a:ext cx="430598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rPr lang="fi-FI" dirty="0"/>
              <a:t>Naga Venkata Sai Ram Charan Pullabhotla</a:t>
            </a:r>
            <a:r>
              <a:rPr dirty="0"/>
              <a:t>  |  University of Hertfordshire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pic>
        <p:nvPicPr>
          <p:cNvPr id="5" name="Picture 4" descr="17_scatter_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018" y="1280161"/>
            <a:ext cx="5908827" cy="5008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1280160"/>
            <a:ext cx="51206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003366"/>
                </a:solidFill>
              </a:defRPr>
            </a:pPr>
            <a:r>
              <a:t>SUMMARY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Compared 4 model families + 3 ensembles on UCI Bike Sharing data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Feature engineering (42 features) significantly improves all models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ML models capture non-linear patterns statistical models cannot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003366"/>
                </a:solidFill>
              </a:defRPr>
            </a:pPr>
            <a:r>
              <a:t>FINAL PERFORMANCE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Best overall: Triple Ensemble (SARIMAX+LGB+XGB) — WMAPE = 12.64%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Best single ML: LightGBM tuned — WMAPE = 12.79%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Best statistical: SARIMAX rolling — WMAPE = 22.90%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200"/>
              </a:spcAft>
              <a:defRPr sz="1400" b="1">
                <a:solidFill>
                  <a:srgbClr val="003366"/>
                </a:solidFill>
              </a:defRPr>
            </a:pPr>
            <a:r>
              <a:t>KEY CONTRIBUTIONS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WMAPE metric for handling near-zero demand hours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Rolling Kalman filter forecast (vs one-shot) for realism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Multi-horizon analysis showing forecast degradation patterns</a:t>
            </a:r>
          </a:p>
          <a:p>
            <a:pPr>
              <a:spcAft>
                <a:spcPts val="300"/>
              </a:spcAft>
              <a:defRPr sz="1200">
                <a:solidFill>
                  <a:srgbClr val="3C3C46"/>
                </a:solidFill>
              </a:defRPr>
            </a:pPr>
            <a:r>
              <a:t>    • Ensemble combining statistical + ML model strengths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786454" y="4183796"/>
            <a:ext cx="430598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rPr lang="fi-FI" dirty="0"/>
              <a:t>Naga Venkata Sai Ram Charan Pullabhotla</a:t>
            </a:r>
            <a:r>
              <a:rPr dirty="0"/>
              <a:t>  |  University of Hertfordshire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23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900" b="1">
                <a:solidFill>
                  <a:srgbClr val="003366"/>
                </a:solidFill>
              </a:defRPr>
            </a:pPr>
            <a:r>
              <a:rPr sz="1600" dirty="0"/>
              <a:t>ACADEMIC REFERENCES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endParaRPr sz="1400" dirty="0"/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rPr sz="1400" dirty="0"/>
              <a:t>    [1] </a:t>
            </a:r>
            <a:r>
              <a:rPr sz="1400" dirty="0" err="1"/>
              <a:t>Fanaee</a:t>
            </a:r>
            <a:r>
              <a:rPr sz="1400" dirty="0"/>
              <a:t>-T, H. &amp; Gama, J. (2014). Event labeling combining ensemble</a:t>
            </a:r>
            <a:r>
              <a:rPr lang="en-US" sz="1400" dirty="0"/>
              <a:t> </a:t>
            </a:r>
            <a:r>
              <a:rPr sz="1400" dirty="0"/>
              <a:t>detectors and background knowledge. Progress in AI.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endParaRPr sz="1400" dirty="0"/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rPr sz="1400" dirty="0"/>
              <a:t>    [2] Li, L., Zhang, J., Wang, Y., &amp; Ran, B. (2019). Missing value imputation</a:t>
            </a:r>
            <a:r>
              <a:rPr lang="en-US" sz="1400" dirty="0"/>
              <a:t> </a:t>
            </a:r>
            <a:r>
              <a:rPr sz="1400" dirty="0"/>
              <a:t>for traffic-related time series. IEEE Trans. ITS.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endParaRPr sz="1400" dirty="0"/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rPr sz="1400" dirty="0"/>
              <a:t>    [3] Hyndman, R.J. &amp; </a:t>
            </a:r>
            <a:r>
              <a:rPr sz="1400" dirty="0" err="1"/>
              <a:t>Athanasopoulos</a:t>
            </a:r>
            <a:r>
              <a:rPr sz="1400" dirty="0"/>
              <a:t>, G. (2021). Forecasting: Principles</a:t>
            </a:r>
            <a:r>
              <a:rPr lang="en-US" sz="1400" dirty="0"/>
              <a:t> </a:t>
            </a:r>
            <a:r>
              <a:rPr sz="1400" dirty="0"/>
              <a:t>and Practice (3rd ed.). </a:t>
            </a:r>
            <a:r>
              <a:rPr sz="1400" dirty="0" err="1"/>
              <a:t>OTexts</a:t>
            </a:r>
            <a:r>
              <a:rPr sz="1400" dirty="0"/>
              <a:t>.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endParaRPr sz="1400" dirty="0"/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rPr sz="1400" dirty="0"/>
              <a:t>    [4] Chen, P.-C. et al. (2020). Short-term bike-sharing demand prediction using hybrid SARIMA. Transportation Research Record.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endParaRPr sz="1400" dirty="0"/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rPr sz="1400" dirty="0"/>
              <a:t>    [5] Chen, T. &amp; </a:t>
            </a:r>
            <a:r>
              <a:rPr sz="1400" dirty="0" err="1"/>
              <a:t>Guestrin</a:t>
            </a:r>
            <a:r>
              <a:rPr sz="1400" dirty="0"/>
              <a:t>, C. (2016). </a:t>
            </a:r>
            <a:r>
              <a:rPr sz="1400" dirty="0" err="1"/>
              <a:t>XGBoost</a:t>
            </a:r>
            <a:r>
              <a:rPr sz="1400" dirty="0"/>
              <a:t>: A Scalable Tree Boosting System. ACM SIGKDD.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endParaRPr sz="1400" dirty="0"/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rPr sz="1400" dirty="0"/>
              <a:t>    [6] </a:t>
            </a:r>
            <a:r>
              <a:rPr sz="1400" dirty="0" err="1"/>
              <a:t>Ke</a:t>
            </a:r>
            <a:r>
              <a:rPr sz="1400" dirty="0"/>
              <a:t>, G. et al. (2017). </a:t>
            </a:r>
            <a:r>
              <a:rPr sz="1400" dirty="0" err="1"/>
              <a:t>LightGBM</a:t>
            </a:r>
            <a:r>
              <a:rPr sz="1400" dirty="0"/>
              <a:t>: A Highly Efficient Gradient Boosting</a:t>
            </a:r>
            <a:r>
              <a:rPr lang="en-US" sz="1400" dirty="0"/>
              <a:t> </a:t>
            </a:r>
            <a:r>
              <a:rPr sz="1400" dirty="0"/>
              <a:t>Decision Tree. </a:t>
            </a:r>
            <a:r>
              <a:rPr sz="1400" dirty="0" err="1"/>
              <a:t>NeurIPS</a:t>
            </a:r>
            <a:r>
              <a:rPr sz="1400" dirty="0"/>
              <a:t>.</a:t>
            </a:r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endParaRPr sz="1400" dirty="0"/>
          </a:p>
          <a:p>
            <a:pPr>
              <a:spcAft>
                <a:spcPts val="500"/>
              </a:spcAft>
              <a:defRPr sz="1600">
                <a:solidFill>
                  <a:srgbClr val="3C3C46"/>
                </a:solidFill>
              </a:defRPr>
            </a:pPr>
            <a:r>
              <a:rPr sz="1400" dirty="0"/>
              <a:t>    Dataset: UCI ML Repository — Bike Sharing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1214" y="6428232"/>
            <a:ext cx="430598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FFFFF"/>
                </a:solidFill>
              </a:defRPr>
            </a:pPr>
            <a:r>
              <a:rPr lang="fi-FI" dirty="0"/>
              <a:t>Naga Venkata Sai Ram Charan Pullabhotla</a:t>
            </a:r>
            <a:r>
              <a:rPr dirty="0"/>
              <a:t>  |  University of Hertfordshire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2169</Words>
  <Application>Microsoft Office PowerPoint</Application>
  <PresentationFormat>Widescreen</PresentationFormat>
  <Paragraphs>260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Naga Venkata Sai Ram Charan Pullabhotla [Student-PECS]</cp:lastModifiedBy>
  <cp:revision>13</cp:revision>
  <dcterms:created xsi:type="dcterms:W3CDTF">2013-01-27T09:14:16Z</dcterms:created>
  <dcterms:modified xsi:type="dcterms:W3CDTF">2026-04-13T11:37:27Z</dcterms:modified>
  <cp:category/>
</cp:coreProperties>
</file>